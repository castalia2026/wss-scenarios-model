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5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6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7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8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9.xml" ContentType="application/vnd.openxmlformats-officedocument.drawingml.chart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10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rts/chart11.xml" ContentType="application/vnd.openxmlformats-officedocument.drawingml.chart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rts/chart12.xml" ContentType="application/vnd.openxmlformats-officedocument.drawingml.chart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rts/chart13.xml" ContentType="application/vnd.openxmlformats-officedocument.drawingml.chart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</p:sldMasterIdLst>
  <p:notesMasterIdLst>
    <p:notesMasterId r:id="rId50"/>
  </p:notesMasterIdLst>
  <p:sldIdLst>
    <p:sldId id="2147481818" r:id="rId5"/>
    <p:sldId id="2147482107" r:id="rId6"/>
    <p:sldId id="2147482230" r:id="rId7"/>
    <p:sldId id="2147482086" r:id="rId8"/>
    <p:sldId id="2147482227" r:id="rId9"/>
    <p:sldId id="2147482226" r:id="rId10"/>
    <p:sldId id="2147482228" r:id="rId11"/>
    <p:sldId id="2147482231" r:id="rId12"/>
    <p:sldId id="2147482242" r:id="rId13"/>
    <p:sldId id="2147482236" r:id="rId14"/>
    <p:sldId id="2147482206" r:id="rId15"/>
    <p:sldId id="2147482212" r:id="rId16"/>
    <p:sldId id="2147482218" r:id="rId17"/>
    <p:sldId id="2147482232" r:id="rId18"/>
    <p:sldId id="2147482195" r:id="rId19"/>
    <p:sldId id="2147482237" r:id="rId20"/>
    <p:sldId id="2147482207" r:id="rId21"/>
    <p:sldId id="2147482213" r:id="rId22"/>
    <p:sldId id="2147482219" r:id="rId23"/>
    <p:sldId id="2147482233" r:id="rId24"/>
    <p:sldId id="2147482196" r:id="rId25"/>
    <p:sldId id="2147482238" r:id="rId26"/>
    <p:sldId id="2147482208" r:id="rId27"/>
    <p:sldId id="2147482214" r:id="rId28"/>
    <p:sldId id="2147482220" r:id="rId29"/>
    <p:sldId id="2147482234" r:id="rId30"/>
    <p:sldId id="2147482197" r:id="rId31"/>
    <p:sldId id="2147482239" r:id="rId32"/>
    <p:sldId id="2147482209" r:id="rId33"/>
    <p:sldId id="2147482215" r:id="rId34"/>
    <p:sldId id="2147482221" r:id="rId35"/>
    <p:sldId id="2147482091" r:id="rId36"/>
    <p:sldId id="2147482198" r:id="rId37"/>
    <p:sldId id="2147482240" r:id="rId38"/>
    <p:sldId id="2147482210" r:id="rId39"/>
    <p:sldId id="2147482216" r:id="rId40"/>
    <p:sldId id="2147482222" r:id="rId41"/>
    <p:sldId id="2147482235" r:id="rId42"/>
    <p:sldId id="2147482199" r:id="rId43"/>
    <p:sldId id="2147482241" r:id="rId44"/>
    <p:sldId id="2147482211" r:id="rId45"/>
    <p:sldId id="2147482217" r:id="rId46"/>
    <p:sldId id="2147482223" r:id="rId47"/>
    <p:sldId id="2147482224" r:id="rId48"/>
    <p:sldId id="2147482225" r:id="rId49"/>
  </p:sldIdLst>
  <p:sldSz cx="12192000" cy="6858000"/>
  <p:notesSz cx="6980238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FFE7702-31C6-1D6F-F785-069CAA1545AE}" name="Petray Wu" initials="PW" userId="S::petray.wu@castalia-advisors.com::208d83c5-8aac-4478-af47-3784c9c0dcdc" providerId="AD"/>
  <p188:author id="{50408722-C603-D7C3-9A76-27CB65B9B10E}" name="Raphaelle Vulliet" initials="RV" userId="S::rvulliet@worldbank.org::57f7b54e-fcbf-48da-829e-869512db18ac" providerId="AD"/>
  <p188:author id="{63CFDD43-AB69-D920-B5C7-3F52775B9441}" name="psilva@part-creative.com" initials="ps" userId="S::urn:spo:guest#psilva@part-creative.com::" providerId="AD"/>
  <p188:author id="{69FCF466-23B7-6074-CB61-80CEC6BE67F9}" name="Andres Camilo Moreno Torres" initials="AM" userId="S::amorenotorres@worldbank.org::a9a03619-4bc9-4092-bbd5-a0cdfcf941a8" providerId="AD"/>
  <p188:author id="{812D316D-FD82-F368-53D3-8D517BFD3CC2}" name="Joseph Sax" initials="JS" userId="S::joseph.sax@castalia-advisors.com::aa9b2d7d-561a-4621-bd3e-396a8ee3913b" providerId="AD"/>
  <p188:author id="{50B4A992-B7B4-1FA4-F189-2E021914B162}" name="Dan Vardi" initials="DV" userId="S::dvardi@ifc.org::a18dada4-9307-4a4e-9747-9f0cbe77a190" providerId="AD"/>
  <p188:author id="{EC4BDEB1-1EE7-4F17-31DA-76B50C7E536F}" name="Sarah Farhat" initials="SF" userId="S::sfarhat@worldbank.org::552b3308-bb6b-4696-a2b4-a40dcd22a874" providerId="AD"/>
  <p188:author id="{C93023DE-6326-66D7-B7A3-44B1FC68013B}" name="Lalrinpari Sailo" initials="LS" userId="S::lsailo@ifc.org::58b0eeb4-9728-413c-bf44-d6d1475260f7" providerId="AD"/>
  <p188:author id="{98D757E2-6955-6E60-0FA1-EB7A52D377D6}" name="Tomas Lopez De Bufala" initials="TL" userId="S::tlopezdebufala@worldbank.org::ef5c3e52-7333-4685-ac01-a6d0ed9ce61d" providerId="AD"/>
  <p188:author id="{E6B732EF-DBDB-088B-1E84-F5E229E475F5}" name="Sarah Nedolast" initials="SN" userId="S::snedolast@worldbank.org::38451d36-f18c-4856-be99-be82ea18b2ba" providerId="AD"/>
  <p188:author id="{2222BBEF-D5E0-443B-A8E3-BCA91CE6DF70}" name="Ada Calderon" initials="AC" userId="S::acalderon2@worldbank.org::cfda2099-5f6e-45ce-8247-a905e87c1a7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8D28"/>
    <a:srgbClr val="FFB714"/>
    <a:srgbClr val="01AB51"/>
    <a:srgbClr val="50C283"/>
    <a:srgbClr val="01A997"/>
    <a:srgbClr val="019CA6"/>
    <a:srgbClr val="019CA5"/>
    <a:srgbClr val="01A0DB"/>
    <a:srgbClr val="00A0DB"/>
    <a:srgbClr val="64C8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E5278E-ACAF-4032-A32F-2B7C7A09086E}" v="5679" dt="2026-07-30T20:28:58.531"/>
    <p1510:client id="{7E939895-C98C-488F-8BB3-94C574B13ADE}" v="277" dt="2026-07-30T19:16:04.138"/>
    <p1510:client id="{E1D36DD4-4493-4C86-9D69-C3A572732425}" v="1" dt="2026-07-30T20:55:24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2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8/10/relationships/authors" Target="author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ray Wu" userId="208d83c5-8aac-4478-af47-3784c9c0dcdc" providerId="ADAL" clId="{B8B20F56-D2B5-4B25-A1A9-B04183A83DC3}"/>
    <pc:docChg chg="custSel modSld">
      <pc:chgData name="Petray Wu" userId="208d83c5-8aac-4478-af47-3784c9c0dcdc" providerId="ADAL" clId="{B8B20F56-D2B5-4B25-A1A9-B04183A83DC3}" dt="2026-07-30T21:07:45.049" v="414"/>
      <pc:docMkLst>
        <pc:docMk/>
      </pc:docMkLst>
      <pc:sldChg chg="modSp mod">
        <pc:chgData name="Petray Wu" userId="208d83c5-8aac-4478-af47-3784c9c0dcdc" providerId="ADAL" clId="{B8B20F56-D2B5-4B25-A1A9-B04183A83DC3}" dt="2026-07-30T21:05:48.202" v="226"/>
        <pc:sldMkLst>
          <pc:docMk/>
          <pc:sldMk cId="3777047186" sldId="2147482086"/>
        </pc:sldMkLst>
        <pc:spChg chg="mod">
          <ac:chgData name="Petray Wu" userId="208d83c5-8aac-4478-af47-3784c9c0dcdc" providerId="ADAL" clId="{B8B20F56-D2B5-4B25-A1A9-B04183A83DC3}" dt="2026-07-30T21:05:48.202" v="226"/>
          <ac:spMkLst>
            <pc:docMk/>
            <pc:sldMk cId="3777047186" sldId="2147482086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0:59:27.065" v="102"/>
          <ac:spMkLst>
            <pc:docMk/>
            <pc:sldMk cId="3777047186" sldId="2147482086"/>
            <ac:spMk id="503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5:48.382" v="305"/>
        <pc:sldMkLst>
          <pc:docMk/>
          <pc:sldMk cId="19254031" sldId="2147482091"/>
        </pc:sldMkLst>
        <pc:spChg chg="mod">
          <ac:chgData name="Petray Wu" userId="208d83c5-8aac-4478-af47-3784c9c0dcdc" providerId="ADAL" clId="{B8B20F56-D2B5-4B25-A1A9-B04183A83DC3}" dt="2026-07-30T21:05:48.382" v="305"/>
          <ac:spMkLst>
            <pc:docMk/>
            <pc:sldMk cId="19254031" sldId="2147482091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0:59:27.222" v="140"/>
          <ac:spMkLst>
            <pc:docMk/>
            <pc:sldMk cId="19254031" sldId="2147482091"/>
            <ac:spMk id="503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22" v="391"/>
        <pc:sldMkLst>
          <pc:docMk/>
          <pc:sldMk cId="2961598376" sldId="2147482107"/>
        </pc:sldMkLst>
        <pc:spChg chg="mod">
          <ac:chgData name="Petray Wu" userId="208d83c5-8aac-4478-af47-3784c9c0dcdc" providerId="ADAL" clId="{B8B20F56-D2B5-4B25-A1A9-B04183A83DC3}" dt="2026-07-30T21:05:48.197" v="224"/>
          <ac:spMkLst>
            <pc:docMk/>
            <pc:sldMk cId="2961598376" sldId="2147482107"/>
            <ac:spMk id="6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7:45.008" v="384"/>
          <ac:spMkLst>
            <pc:docMk/>
            <pc:sldMk cId="2961598376" sldId="2147482107"/>
            <ac:spMk id="604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7:45.008" v="385"/>
          <ac:spMkLst>
            <pc:docMk/>
            <pc:sldMk cId="2961598376" sldId="2147482107"/>
            <ac:spMk id="609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7:45.008" v="386"/>
          <ac:spMkLst>
            <pc:docMk/>
            <pc:sldMk cId="2961598376" sldId="2147482107"/>
            <ac:spMk id="614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7:45.008" v="387"/>
          <ac:spMkLst>
            <pc:docMk/>
            <pc:sldMk cId="2961598376" sldId="2147482107"/>
            <ac:spMk id="619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7:45.019" v="388"/>
          <ac:spMkLst>
            <pc:docMk/>
            <pc:sldMk cId="2961598376" sldId="2147482107"/>
            <ac:spMk id="624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7:45.022" v="389"/>
          <ac:spMkLst>
            <pc:docMk/>
            <pc:sldMk cId="2961598376" sldId="2147482107"/>
            <ac:spMk id="629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7:45.022" v="390"/>
          <ac:spMkLst>
            <pc:docMk/>
            <pc:sldMk cId="2961598376" sldId="2147482107"/>
            <ac:spMk id="701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7:45.022" v="391"/>
          <ac:spMkLst>
            <pc:docMk/>
            <pc:sldMk cId="2961598376" sldId="2147482107"/>
            <ac:spMk id="706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27" v="397"/>
        <pc:sldMkLst>
          <pc:docMk/>
          <pc:sldMk cId="3820429295" sldId="2147482195"/>
        </pc:sldMkLst>
        <pc:spChg chg="mod">
          <ac:chgData name="Petray Wu" userId="208d83c5-8aac-4478-af47-3784c9c0dcdc" providerId="ADAL" clId="{B8B20F56-D2B5-4B25-A1A9-B04183A83DC3}" dt="2026-07-30T21:07:45.027" v="397"/>
          <ac:spMkLst>
            <pc:docMk/>
            <pc:sldMk cId="3820429295" sldId="2147482195"/>
            <ac:spMk id="503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263" v="253"/>
          <ac:spMkLst>
            <pc:docMk/>
            <pc:sldMk cId="3820429295" sldId="2147482195"/>
            <ac:spMk id="504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29" v="400"/>
        <pc:sldMkLst>
          <pc:docMk/>
          <pc:sldMk cId="2928281292" sldId="2147482196"/>
        </pc:sldMkLst>
        <pc:spChg chg="mod">
          <ac:chgData name="Petray Wu" userId="208d83c5-8aac-4478-af47-3784c9c0dcdc" providerId="ADAL" clId="{B8B20F56-D2B5-4B25-A1A9-B04183A83DC3}" dt="2026-07-30T21:07:45.029" v="400"/>
          <ac:spMkLst>
            <pc:docMk/>
            <pc:sldMk cId="2928281292" sldId="2147482196"/>
            <ac:spMk id="503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304" v="271"/>
          <ac:spMkLst>
            <pc:docMk/>
            <pc:sldMk cId="2928281292" sldId="2147482196"/>
            <ac:spMk id="504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34" v="403"/>
        <pc:sldMkLst>
          <pc:docMk/>
          <pc:sldMk cId="2574005891" sldId="2147482197"/>
        </pc:sldMkLst>
        <pc:spChg chg="mod">
          <ac:chgData name="Petray Wu" userId="208d83c5-8aac-4478-af47-3784c9c0dcdc" providerId="ADAL" clId="{B8B20F56-D2B5-4B25-A1A9-B04183A83DC3}" dt="2026-07-30T21:07:45.034" v="403"/>
          <ac:spMkLst>
            <pc:docMk/>
            <pc:sldMk cId="2574005891" sldId="2147482197"/>
            <ac:spMk id="503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344" v="289"/>
          <ac:spMkLst>
            <pc:docMk/>
            <pc:sldMk cId="2574005891" sldId="2147482197"/>
            <ac:spMk id="504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40" v="406"/>
        <pc:sldMkLst>
          <pc:docMk/>
          <pc:sldMk cId="1435519975" sldId="2147482198"/>
        </pc:sldMkLst>
        <pc:spChg chg="mod">
          <ac:chgData name="Petray Wu" userId="208d83c5-8aac-4478-af47-3784c9c0dcdc" providerId="ADAL" clId="{B8B20F56-D2B5-4B25-A1A9-B04183A83DC3}" dt="2026-07-30T21:07:45.040" v="406"/>
          <ac:spMkLst>
            <pc:docMk/>
            <pc:sldMk cId="1435519975" sldId="2147482198"/>
            <ac:spMk id="503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387" v="307"/>
          <ac:spMkLst>
            <pc:docMk/>
            <pc:sldMk cId="1435519975" sldId="2147482198"/>
            <ac:spMk id="504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45" v="409"/>
        <pc:sldMkLst>
          <pc:docMk/>
          <pc:sldMk cId="538955071" sldId="2147482199"/>
        </pc:sldMkLst>
        <pc:spChg chg="mod">
          <ac:chgData name="Petray Wu" userId="208d83c5-8aac-4478-af47-3784c9c0dcdc" providerId="ADAL" clId="{B8B20F56-D2B5-4B25-A1A9-B04183A83DC3}" dt="2026-07-30T21:07:45.045" v="409"/>
          <ac:spMkLst>
            <pc:docMk/>
            <pc:sldMk cId="538955071" sldId="2147482199"/>
            <ac:spMk id="503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427" v="325"/>
          <ac:spMkLst>
            <pc:docMk/>
            <pc:sldMk cId="538955071" sldId="2147482199"/>
            <ac:spMk id="504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26" v="396"/>
        <pc:sldMkLst>
          <pc:docMk/>
          <pc:sldMk cId="687799441" sldId="2147482206"/>
        </pc:sldMkLst>
        <pc:spChg chg="mod">
          <ac:chgData name="Petray Wu" userId="208d83c5-8aac-4478-af47-3784c9c0dcdc" providerId="ADAL" clId="{B8B20F56-D2B5-4B25-A1A9-B04183A83DC3}" dt="2026-07-30T21:07:45.026" v="396"/>
          <ac:spMkLst>
            <pc:docMk/>
            <pc:sldMk cId="687799441" sldId="2147482206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6:10.138" v="350"/>
          <ac:spMkLst>
            <pc:docMk/>
            <pc:sldMk cId="687799441" sldId="2147482206"/>
            <ac:spMk id="503" creationId="{00000000-0000-0000-0000-000000000000}"/>
          </ac:spMkLst>
        </pc:spChg>
      </pc:sldChg>
      <pc:sldChg chg="delSp modSp mod">
        <pc:chgData name="Petray Wu" userId="208d83c5-8aac-4478-af47-3784c9c0dcdc" providerId="ADAL" clId="{B8B20F56-D2B5-4B25-A1A9-B04183A83DC3}" dt="2026-07-30T21:07:45.029" v="399"/>
        <pc:sldMkLst>
          <pc:docMk/>
          <pc:sldMk cId="1586516710" sldId="2147482207"/>
        </pc:sldMkLst>
        <pc:spChg chg="mod">
          <ac:chgData name="Petray Wu" userId="208d83c5-8aac-4478-af47-3784c9c0dcdc" providerId="ADAL" clId="{B8B20F56-D2B5-4B25-A1A9-B04183A83DC3}" dt="2026-07-30T21:07:45.029" v="399"/>
          <ac:spMkLst>
            <pc:docMk/>
            <pc:sldMk cId="1586516710" sldId="2147482207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6:10.202" v="356"/>
          <ac:spMkLst>
            <pc:docMk/>
            <pc:sldMk cId="1586516710" sldId="2147482207"/>
            <ac:spMk id="503" creationId="{00000000-0000-0000-0000-000000000000}"/>
          </ac:spMkLst>
        </pc:spChg>
        <pc:spChg chg="del">
          <ac:chgData name="Petray Wu" userId="208d83c5-8aac-4478-af47-3784c9c0dcdc" providerId="ADAL" clId="{B8B20F56-D2B5-4B25-A1A9-B04183A83DC3}" dt="2026-07-30T21:03:00.646" v="201"/>
          <ac:spMkLst>
            <pc:docMk/>
            <pc:sldMk cId="1586516710" sldId="2147482207"/>
            <ac:spMk id="506" creationId="{00000000-0000-0000-0000-000000000000}"/>
          </ac:spMkLst>
        </pc:spChg>
      </pc:sldChg>
      <pc:sldChg chg="delSp modSp mod">
        <pc:chgData name="Petray Wu" userId="208d83c5-8aac-4478-af47-3784c9c0dcdc" providerId="ADAL" clId="{B8B20F56-D2B5-4B25-A1A9-B04183A83DC3}" dt="2026-07-30T21:07:45.032" v="402"/>
        <pc:sldMkLst>
          <pc:docMk/>
          <pc:sldMk cId="1019794522" sldId="2147482208"/>
        </pc:sldMkLst>
        <pc:spChg chg="mod">
          <ac:chgData name="Petray Wu" userId="208d83c5-8aac-4478-af47-3784c9c0dcdc" providerId="ADAL" clId="{B8B20F56-D2B5-4B25-A1A9-B04183A83DC3}" dt="2026-07-30T21:07:45.032" v="402"/>
          <ac:spMkLst>
            <pc:docMk/>
            <pc:sldMk cId="1019794522" sldId="2147482208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6:10.222" v="362"/>
          <ac:spMkLst>
            <pc:docMk/>
            <pc:sldMk cId="1019794522" sldId="2147482208"/>
            <ac:spMk id="503" creationId="{00000000-0000-0000-0000-000000000000}"/>
          </ac:spMkLst>
        </pc:spChg>
        <pc:spChg chg="del">
          <ac:chgData name="Petray Wu" userId="208d83c5-8aac-4478-af47-3784c9c0dcdc" providerId="ADAL" clId="{B8B20F56-D2B5-4B25-A1A9-B04183A83DC3}" dt="2026-07-30T21:03:00.674" v="202"/>
          <ac:spMkLst>
            <pc:docMk/>
            <pc:sldMk cId="1019794522" sldId="2147482208"/>
            <ac:spMk id="506" creationId="{00000000-0000-0000-0000-000000000000}"/>
          </ac:spMkLst>
        </pc:spChg>
      </pc:sldChg>
      <pc:sldChg chg="delSp modSp mod">
        <pc:chgData name="Petray Wu" userId="208d83c5-8aac-4478-af47-3784c9c0dcdc" providerId="ADAL" clId="{B8B20F56-D2B5-4B25-A1A9-B04183A83DC3}" dt="2026-07-30T21:07:45.039" v="405"/>
        <pc:sldMkLst>
          <pc:docMk/>
          <pc:sldMk cId="3749374049" sldId="2147482209"/>
        </pc:sldMkLst>
        <pc:spChg chg="mod">
          <ac:chgData name="Petray Wu" userId="208d83c5-8aac-4478-af47-3784c9c0dcdc" providerId="ADAL" clId="{B8B20F56-D2B5-4B25-A1A9-B04183A83DC3}" dt="2026-07-30T21:07:45.039" v="405"/>
          <ac:spMkLst>
            <pc:docMk/>
            <pc:sldMk cId="3749374049" sldId="2147482209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6:10.239" v="368"/>
          <ac:spMkLst>
            <pc:docMk/>
            <pc:sldMk cId="3749374049" sldId="2147482209"/>
            <ac:spMk id="503" creationId="{00000000-0000-0000-0000-000000000000}"/>
          </ac:spMkLst>
        </pc:spChg>
        <pc:spChg chg="del">
          <ac:chgData name="Petray Wu" userId="208d83c5-8aac-4478-af47-3784c9c0dcdc" providerId="ADAL" clId="{B8B20F56-D2B5-4B25-A1A9-B04183A83DC3}" dt="2026-07-30T21:03:00.678" v="203"/>
          <ac:spMkLst>
            <pc:docMk/>
            <pc:sldMk cId="3749374049" sldId="2147482209"/>
            <ac:spMk id="506" creationId="{00000000-0000-0000-0000-000000000000}"/>
          </ac:spMkLst>
        </pc:spChg>
      </pc:sldChg>
      <pc:sldChg chg="delSp modSp mod">
        <pc:chgData name="Petray Wu" userId="208d83c5-8aac-4478-af47-3784c9c0dcdc" providerId="ADAL" clId="{B8B20F56-D2B5-4B25-A1A9-B04183A83DC3}" dt="2026-07-30T21:07:45.044" v="408"/>
        <pc:sldMkLst>
          <pc:docMk/>
          <pc:sldMk cId="1091749759" sldId="2147482210"/>
        </pc:sldMkLst>
        <pc:spChg chg="mod">
          <ac:chgData name="Petray Wu" userId="208d83c5-8aac-4478-af47-3784c9c0dcdc" providerId="ADAL" clId="{B8B20F56-D2B5-4B25-A1A9-B04183A83DC3}" dt="2026-07-30T21:07:45.044" v="408"/>
          <ac:spMkLst>
            <pc:docMk/>
            <pc:sldMk cId="1091749759" sldId="2147482210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6:10.257" v="374"/>
          <ac:spMkLst>
            <pc:docMk/>
            <pc:sldMk cId="1091749759" sldId="2147482210"/>
            <ac:spMk id="503" creationId="{00000000-0000-0000-0000-000000000000}"/>
          </ac:spMkLst>
        </pc:spChg>
        <pc:spChg chg="del">
          <ac:chgData name="Petray Wu" userId="208d83c5-8aac-4478-af47-3784c9c0dcdc" providerId="ADAL" clId="{B8B20F56-D2B5-4B25-A1A9-B04183A83DC3}" dt="2026-07-30T21:03:00.687" v="204"/>
          <ac:spMkLst>
            <pc:docMk/>
            <pc:sldMk cId="1091749759" sldId="2147482210"/>
            <ac:spMk id="506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47" v="411"/>
        <pc:sldMkLst>
          <pc:docMk/>
          <pc:sldMk cId="771698907" sldId="2147482211"/>
        </pc:sldMkLst>
        <pc:spChg chg="mod">
          <ac:chgData name="Petray Wu" userId="208d83c5-8aac-4478-af47-3784c9c0dcdc" providerId="ADAL" clId="{B8B20F56-D2B5-4B25-A1A9-B04183A83DC3}" dt="2026-07-30T21:07:45.047" v="411"/>
          <ac:spMkLst>
            <pc:docMk/>
            <pc:sldMk cId="771698907" sldId="2147482211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6:10.274" v="380"/>
          <ac:spMkLst>
            <pc:docMk/>
            <pc:sldMk cId="771698907" sldId="2147482211"/>
            <ac:spMk id="503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6:10.187" v="353"/>
        <pc:sldMkLst>
          <pc:docMk/>
          <pc:sldMk cId="4138121745" sldId="2147482212"/>
        </pc:sldMkLst>
        <pc:spChg chg="mod">
          <ac:chgData name="Petray Wu" userId="208d83c5-8aac-4478-af47-3784c9c0dcdc" providerId="ADAL" clId="{B8B20F56-D2B5-4B25-A1A9-B04183A83DC3}" dt="2026-07-30T21:06:10.187" v="352"/>
          <ac:spMkLst>
            <pc:docMk/>
            <pc:sldMk cId="4138121745" sldId="2147482212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6:10.187" v="353"/>
          <ac:spMkLst>
            <pc:docMk/>
            <pc:sldMk cId="4138121745" sldId="2147482212"/>
            <ac:spMk id="503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6:10.214" v="359"/>
        <pc:sldMkLst>
          <pc:docMk/>
          <pc:sldMk cId="3178702683" sldId="2147482213"/>
        </pc:sldMkLst>
        <pc:spChg chg="mod">
          <ac:chgData name="Petray Wu" userId="208d83c5-8aac-4478-af47-3784c9c0dcdc" providerId="ADAL" clId="{B8B20F56-D2B5-4B25-A1A9-B04183A83DC3}" dt="2026-07-30T21:06:10.212" v="358"/>
          <ac:spMkLst>
            <pc:docMk/>
            <pc:sldMk cId="3178702683" sldId="2147482213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6:10.214" v="359"/>
          <ac:spMkLst>
            <pc:docMk/>
            <pc:sldMk cId="3178702683" sldId="2147482213"/>
            <ac:spMk id="503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6:10.233" v="365"/>
        <pc:sldMkLst>
          <pc:docMk/>
          <pc:sldMk cId="1407904458" sldId="2147482214"/>
        </pc:sldMkLst>
        <pc:spChg chg="mod">
          <ac:chgData name="Petray Wu" userId="208d83c5-8aac-4478-af47-3784c9c0dcdc" providerId="ADAL" clId="{B8B20F56-D2B5-4B25-A1A9-B04183A83DC3}" dt="2026-07-30T21:06:10.230" v="364"/>
          <ac:spMkLst>
            <pc:docMk/>
            <pc:sldMk cId="1407904458" sldId="2147482214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6:10.233" v="365"/>
          <ac:spMkLst>
            <pc:docMk/>
            <pc:sldMk cId="1407904458" sldId="2147482214"/>
            <ac:spMk id="503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6:10.249" v="371"/>
        <pc:sldMkLst>
          <pc:docMk/>
          <pc:sldMk cId="3668332586" sldId="2147482215"/>
        </pc:sldMkLst>
        <pc:spChg chg="mod">
          <ac:chgData name="Petray Wu" userId="208d83c5-8aac-4478-af47-3784c9c0dcdc" providerId="ADAL" clId="{B8B20F56-D2B5-4B25-A1A9-B04183A83DC3}" dt="2026-07-30T21:06:10.247" v="370"/>
          <ac:spMkLst>
            <pc:docMk/>
            <pc:sldMk cId="3668332586" sldId="2147482215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6:10.249" v="371"/>
          <ac:spMkLst>
            <pc:docMk/>
            <pc:sldMk cId="3668332586" sldId="2147482215"/>
            <ac:spMk id="503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6:10.264" v="377"/>
        <pc:sldMkLst>
          <pc:docMk/>
          <pc:sldMk cId="482069545" sldId="2147482216"/>
        </pc:sldMkLst>
        <pc:spChg chg="mod">
          <ac:chgData name="Petray Wu" userId="208d83c5-8aac-4478-af47-3784c9c0dcdc" providerId="ADAL" clId="{B8B20F56-D2B5-4B25-A1A9-B04183A83DC3}" dt="2026-07-30T21:06:10.264" v="376"/>
          <ac:spMkLst>
            <pc:docMk/>
            <pc:sldMk cId="482069545" sldId="2147482216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6:10.264" v="377"/>
          <ac:spMkLst>
            <pc:docMk/>
            <pc:sldMk cId="482069545" sldId="2147482216"/>
            <ac:spMk id="503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6:10.280" v="383"/>
        <pc:sldMkLst>
          <pc:docMk/>
          <pc:sldMk cId="3841067765" sldId="2147482217"/>
        </pc:sldMkLst>
        <pc:spChg chg="mod">
          <ac:chgData name="Petray Wu" userId="208d83c5-8aac-4478-af47-3784c9c0dcdc" providerId="ADAL" clId="{B8B20F56-D2B5-4B25-A1A9-B04183A83DC3}" dt="2026-07-30T21:06:10.280" v="382"/>
          <ac:spMkLst>
            <pc:docMk/>
            <pc:sldMk cId="3841067765" sldId="2147482217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6:10.280" v="383"/>
          <ac:spMkLst>
            <pc:docMk/>
            <pc:sldMk cId="3841067765" sldId="2147482217"/>
            <ac:spMk id="503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5:48.254" v="249"/>
        <pc:sldMkLst>
          <pc:docMk/>
          <pc:sldMk cId="331717777" sldId="2147482218"/>
        </pc:sldMkLst>
        <pc:spChg chg="mod">
          <ac:chgData name="Petray Wu" userId="208d83c5-8aac-4478-af47-3784c9c0dcdc" providerId="ADAL" clId="{B8B20F56-D2B5-4B25-A1A9-B04183A83DC3}" dt="2026-07-30T21:03:00.696" v="205"/>
          <ac:spMkLst>
            <pc:docMk/>
            <pc:sldMk cId="331717777" sldId="2147482218"/>
            <ac:spMk id="501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243" v="243"/>
          <ac:spMkLst>
            <pc:docMk/>
            <pc:sldMk cId="331717777" sldId="2147482218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3:00.698" v="206"/>
          <ac:spMkLst>
            <pc:docMk/>
            <pc:sldMk cId="331717777" sldId="2147482218"/>
            <ac:spMk id="503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245" v="245"/>
          <ac:spMkLst>
            <pc:docMk/>
            <pc:sldMk cId="331717777" sldId="2147482218"/>
            <ac:spMk id="504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3:00.698" v="207"/>
          <ac:spMkLst>
            <pc:docMk/>
            <pc:sldMk cId="331717777" sldId="2147482218"/>
            <ac:spMk id="505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252" v="247"/>
          <ac:spMkLst>
            <pc:docMk/>
            <pc:sldMk cId="331717777" sldId="2147482218"/>
            <ac:spMk id="506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254" v="249"/>
          <ac:spMkLst>
            <pc:docMk/>
            <pc:sldMk cId="331717777" sldId="2147482218"/>
            <ac:spMk id="508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5:48.294" v="267"/>
        <pc:sldMkLst>
          <pc:docMk/>
          <pc:sldMk cId="2418356829" sldId="2147482219"/>
        </pc:sldMkLst>
        <pc:spChg chg="mod">
          <ac:chgData name="Petray Wu" userId="208d83c5-8aac-4478-af47-3784c9c0dcdc" providerId="ADAL" clId="{B8B20F56-D2B5-4B25-A1A9-B04183A83DC3}" dt="2026-07-30T21:03:00.704" v="208"/>
          <ac:spMkLst>
            <pc:docMk/>
            <pc:sldMk cId="2418356829" sldId="2147482219"/>
            <ac:spMk id="501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281" v="261"/>
          <ac:spMkLst>
            <pc:docMk/>
            <pc:sldMk cId="2418356829" sldId="2147482219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3:00.706" v="209"/>
          <ac:spMkLst>
            <pc:docMk/>
            <pc:sldMk cId="2418356829" sldId="2147482219"/>
            <ac:spMk id="503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287" v="263"/>
          <ac:spMkLst>
            <pc:docMk/>
            <pc:sldMk cId="2418356829" sldId="2147482219"/>
            <ac:spMk id="504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3:00.707" v="210"/>
          <ac:spMkLst>
            <pc:docMk/>
            <pc:sldMk cId="2418356829" sldId="2147482219"/>
            <ac:spMk id="505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290" v="265"/>
          <ac:spMkLst>
            <pc:docMk/>
            <pc:sldMk cId="2418356829" sldId="2147482219"/>
            <ac:spMk id="506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294" v="267"/>
          <ac:spMkLst>
            <pc:docMk/>
            <pc:sldMk cId="2418356829" sldId="2147482219"/>
            <ac:spMk id="508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5:48.336" v="285"/>
        <pc:sldMkLst>
          <pc:docMk/>
          <pc:sldMk cId="1790691848" sldId="2147482220"/>
        </pc:sldMkLst>
        <pc:spChg chg="mod">
          <ac:chgData name="Petray Wu" userId="208d83c5-8aac-4478-af47-3784c9c0dcdc" providerId="ADAL" clId="{B8B20F56-D2B5-4B25-A1A9-B04183A83DC3}" dt="2026-07-30T21:03:00.713" v="211"/>
          <ac:spMkLst>
            <pc:docMk/>
            <pc:sldMk cId="1790691848" sldId="2147482220"/>
            <ac:spMk id="501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323" v="279"/>
          <ac:spMkLst>
            <pc:docMk/>
            <pc:sldMk cId="1790691848" sldId="2147482220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3:00.714" v="212"/>
          <ac:spMkLst>
            <pc:docMk/>
            <pc:sldMk cId="1790691848" sldId="2147482220"/>
            <ac:spMk id="503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327" v="281"/>
          <ac:spMkLst>
            <pc:docMk/>
            <pc:sldMk cId="1790691848" sldId="2147482220"/>
            <ac:spMk id="504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3:00.714" v="213"/>
          <ac:spMkLst>
            <pc:docMk/>
            <pc:sldMk cId="1790691848" sldId="2147482220"/>
            <ac:spMk id="505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333" v="283"/>
          <ac:spMkLst>
            <pc:docMk/>
            <pc:sldMk cId="1790691848" sldId="2147482220"/>
            <ac:spMk id="506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336" v="285"/>
          <ac:spMkLst>
            <pc:docMk/>
            <pc:sldMk cId="1790691848" sldId="2147482220"/>
            <ac:spMk id="508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5:48.379" v="303"/>
        <pc:sldMkLst>
          <pc:docMk/>
          <pc:sldMk cId="1199580446" sldId="2147482221"/>
        </pc:sldMkLst>
        <pc:spChg chg="mod">
          <ac:chgData name="Petray Wu" userId="208d83c5-8aac-4478-af47-3784c9c0dcdc" providerId="ADAL" clId="{B8B20F56-D2B5-4B25-A1A9-B04183A83DC3}" dt="2026-07-30T21:03:00.721" v="214"/>
          <ac:spMkLst>
            <pc:docMk/>
            <pc:sldMk cId="1199580446" sldId="2147482221"/>
            <ac:spMk id="501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363" v="297"/>
          <ac:spMkLst>
            <pc:docMk/>
            <pc:sldMk cId="1199580446" sldId="2147482221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3:00.722" v="215"/>
          <ac:spMkLst>
            <pc:docMk/>
            <pc:sldMk cId="1199580446" sldId="2147482221"/>
            <ac:spMk id="503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370" v="299"/>
          <ac:spMkLst>
            <pc:docMk/>
            <pc:sldMk cId="1199580446" sldId="2147482221"/>
            <ac:spMk id="504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3:00.722" v="216"/>
          <ac:spMkLst>
            <pc:docMk/>
            <pc:sldMk cId="1199580446" sldId="2147482221"/>
            <ac:spMk id="505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377" v="301"/>
          <ac:spMkLst>
            <pc:docMk/>
            <pc:sldMk cId="1199580446" sldId="2147482221"/>
            <ac:spMk id="506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379" v="303"/>
          <ac:spMkLst>
            <pc:docMk/>
            <pc:sldMk cId="1199580446" sldId="2147482221"/>
            <ac:spMk id="508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5:48.419" v="321"/>
        <pc:sldMkLst>
          <pc:docMk/>
          <pc:sldMk cId="4194514906" sldId="2147482222"/>
        </pc:sldMkLst>
        <pc:spChg chg="mod">
          <ac:chgData name="Petray Wu" userId="208d83c5-8aac-4478-af47-3784c9c0dcdc" providerId="ADAL" clId="{B8B20F56-D2B5-4B25-A1A9-B04183A83DC3}" dt="2026-07-30T21:03:00.730" v="217"/>
          <ac:spMkLst>
            <pc:docMk/>
            <pc:sldMk cId="4194514906" sldId="2147482222"/>
            <ac:spMk id="501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406" v="315"/>
          <ac:spMkLst>
            <pc:docMk/>
            <pc:sldMk cId="4194514906" sldId="2147482222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3:00.731" v="218"/>
          <ac:spMkLst>
            <pc:docMk/>
            <pc:sldMk cId="4194514906" sldId="2147482222"/>
            <ac:spMk id="503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410" v="317"/>
          <ac:spMkLst>
            <pc:docMk/>
            <pc:sldMk cId="4194514906" sldId="2147482222"/>
            <ac:spMk id="504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3:00.731" v="219"/>
          <ac:spMkLst>
            <pc:docMk/>
            <pc:sldMk cId="4194514906" sldId="2147482222"/>
            <ac:spMk id="505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415" v="319"/>
          <ac:spMkLst>
            <pc:docMk/>
            <pc:sldMk cId="4194514906" sldId="2147482222"/>
            <ac:spMk id="506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419" v="321"/>
          <ac:spMkLst>
            <pc:docMk/>
            <pc:sldMk cId="4194514906" sldId="2147482222"/>
            <ac:spMk id="508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5:48.460" v="339"/>
        <pc:sldMkLst>
          <pc:docMk/>
          <pc:sldMk cId="3066355624" sldId="2147482223"/>
        </pc:sldMkLst>
        <pc:spChg chg="mod">
          <ac:chgData name="Petray Wu" userId="208d83c5-8aac-4478-af47-3784c9c0dcdc" providerId="ADAL" clId="{B8B20F56-D2B5-4B25-A1A9-B04183A83DC3}" dt="2026-07-30T21:03:00.737" v="220"/>
          <ac:spMkLst>
            <pc:docMk/>
            <pc:sldMk cId="3066355624" sldId="2147482223"/>
            <ac:spMk id="501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446" v="333"/>
          <ac:spMkLst>
            <pc:docMk/>
            <pc:sldMk cId="3066355624" sldId="2147482223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3:00.737" v="221"/>
          <ac:spMkLst>
            <pc:docMk/>
            <pc:sldMk cId="3066355624" sldId="2147482223"/>
            <ac:spMk id="503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448" v="335"/>
          <ac:spMkLst>
            <pc:docMk/>
            <pc:sldMk cId="3066355624" sldId="2147482223"/>
            <ac:spMk id="504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3:00.737" v="222"/>
          <ac:spMkLst>
            <pc:docMk/>
            <pc:sldMk cId="3066355624" sldId="2147482223"/>
            <ac:spMk id="505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458" v="337"/>
          <ac:spMkLst>
            <pc:docMk/>
            <pc:sldMk cId="3066355624" sldId="2147482223"/>
            <ac:spMk id="506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460" v="339"/>
          <ac:spMkLst>
            <pc:docMk/>
            <pc:sldMk cId="3066355624" sldId="2147482223"/>
            <ac:spMk id="508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47" v="413"/>
        <pc:sldMkLst>
          <pc:docMk/>
          <pc:sldMk cId="2129030154" sldId="2147482224"/>
        </pc:sldMkLst>
        <pc:spChg chg="mod">
          <ac:chgData name="Petray Wu" userId="208d83c5-8aac-4478-af47-3784c9c0dcdc" providerId="ADAL" clId="{B8B20F56-D2B5-4B25-A1A9-B04183A83DC3}" dt="2026-07-30T21:07:45.047" v="412"/>
          <ac:spMkLst>
            <pc:docMk/>
            <pc:sldMk cId="2129030154" sldId="2147482224"/>
            <ac:spMk id="501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462" v="341"/>
          <ac:spMkLst>
            <pc:docMk/>
            <pc:sldMk cId="2129030154" sldId="2147482224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7:45.047" v="413"/>
          <ac:spMkLst>
            <pc:docMk/>
            <pc:sldMk cId="2129030154" sldId="2147482224"/>
            <ac:spMk id="503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469" v="343"/>
          <ac:spMkLst>
            <pc:docMk/>
            <pc:sldMk cId="2129030154" sldId="2147482224"/>
            <ac:spMk id="504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473" v="345"/>
          <ac:spMkLst>
            <pc:docMk/>
            <pc:sldMk cId="2129030154" sldId="2147482224"/>
            <ac:spMk id="506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49" v="414"/>
        <pc:sldMkLst>
          <pc:docMk/>
          <pc:sldMk cId="1487187301" sldId="2147482225"/>
        </pc:sldMkLst>
        <pc:spChg chg="mod">
          <ac:chgData name="Petray Wu" userId="208d83c5-8aac-4478-af47-3784c9c0dcdc" providerId="ADAL" clId="{B8B20F56-D2B5-4B25-A1A9-B04183A83DC3}" dt="2026-07-30T21:07:45.049" v="414"/>
          <ac:spMkLst>
            <pc:docMk/>
            <pc:sldMk cId="1487187301" sldId="2147482225"/>
            <ac:spMk id="501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480" v="347"/>
          <ac:spMkLst>
            <pc:docMk/>
            <pc:sldMk cId="1487187301" sldId="2147482225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0:59:27.281" v="158"/>
          <ac:spMkLst>
            <pc:docMk/>
            <pc:sldMk cId="1487187301" sldId="2147482225"/>
            <ac:spMk id="503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24" v="392"/>
        <pc:sldMkLst>
          <pc:docMk/>
          <pc:sldMk cId="4222322925" sldId="2147482226"/>
        </pc:sldMkLst>
        <pc:spChg chg="mod">
          <ac:chgData name="Petray Wu" userId="208d83c5-8aac-4478-af47-3784c9c0dcdc" providerId="ADAL" clId="{B8B20F56-D2B5-4B25-A1A9-B04183A83DC3}" dt="2026-07-30T21:07:45.024" v="392"/>
          <ac:spMkLst>
            <pc:docMk/>
            <pc:sldMk cId="4222322925" sldId="2147482226"/>
            <ac:spMk id="505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204" v="227"/>
          <ac:spMkLst>
            <pc:docMk/>
            <pc:sldMk cId="4222322925" sldId="2147482226"/>
            <ac:spMk id="506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210" v="229"/>
          <ac:spMkLst>
            <pc:docMk/>
            <pc:sldMk cId="4222322925" sldId="2147482226"/>
            <ac:spMk id="508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24" v="393"/>
        <pc:sldMkLst>
          <pc:docMk/>
          <pc:sldMk cId="2902051929" sldId="2147482228"/>
        </pc:sldMkLst>
        <pc:spChg chg="mod">
          <ac:chgData name="Petray Wu" userId="208d83c5-8aac-4478-af47-3784c9c0dcdc" providerId="ADAL" clId="{B8B20F56-D2B5-4B25-A1A9-B04183A83DC3}" dt="2026-07-30T21:07:45.024" v="393"/>
          <ac:spMkLst>
            <pc:docMk/>
            <pc:sldMk cId="2902051929" sldId="2147482228"/>
            <ac:spMk id="501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216" v="231"/>
          <ac:spMkLst>
            <pc:docMk/>
            <pc:sldMk cId="2902051929" sldId="2147482228"/>
            <ac:spMk id="502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5:48.219" v="233"/>
        <pc:sldMkLst>
          <pc:docMk/>
          <pc:sldMk cId="832166995" sldId="2147482231"/>
        </pc:sldMkLst>
        <pc:spChg chg="mod">
          <ac:chgData name="Petray Wu" userId="208d83c5-8aac-4478-af47-3784c9c0dcdc" providerId="ADAL" clId="{B8B20F56-D2B5-4B25-A1A9-B04183A83DC3}" dt="2026-07-30T21:05:48.219" v="233"/>
          <ac:spMkLst>
            <pc:docMk/>
            <pc:sldMk cId="832166995" sldId="2147482231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0:59:27.129" v="108"/>
          <ac:spMkLst>
            <pc:docMk/>
            <pc:sldMk cId="832166995" sldId="2147482231"/>
            <ac:spMk id="503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5:48.257" v="251"/>
        <pc:sldMkLst>
          <pc:docMk/>
          <pc:sldMk cId="2768205925" sldId="2147482232"/>
        </pc:sldMkLst>
        <pc:spChg chg="mod">
          <ac:chgData name="Petray Wu" userId="208d83c5-8aac-4478-af47-3784c9c0dcdc" providerId="ADAL" clId="{B8B20F56-D2B5-4B25-A1A9-B04183A83DC3}" dt="2026-07-30T21:05:48.257" v="251"/>
          <ac:spMkLst>
            <pc:docMk/>
            <pc:sldMk cId="2768205925" sldId="2147482232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0:59:27.160" v="116"/>
          <ac:spMkLst>
            <pc:docMk/>
            <pc:sldMk cId="2768205925" sldId="2147482232"/>
            <ac:spMk id="503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5:48.297" v="269"/>
        <pc:sldMkLst>
          <pc:docMk/>
          <pc:sldMk cId="341600856" sldId="2147482233"/>
        </pc:sldMkLst>
        <pc:spChg chg="mod">
          <ac:chgData name="Petray Wu" userId="208d83c5-8aac-4478-af47-3784c9c0dcdc" providerId="ADAL" clId="{B8B20F56-D2B5-4B25-A1A9-B04183A83DC3}" dt="2026-07-30T21:05:48.297" v="269"/>
          <ac:spMkLst>
            <pc:docMk/>
            <pc:sldMk cId="341600856" sldId="2147482233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0:59:27.182" v="124"/>
          <ac:spMkLst>
            <pc:docMk/>
            <pc:sldMk cId="341600856" sldId="2147482233"/>
            <ac:spMk id="503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5:48.340" v="287"/>
        <pc:sldMkLst>
          <pc:docMk/>
          <pc:sldMk cId="1433890548" sldId="2147482234"/>
        </pc:sldMkLst>
        <pc:spChg chg="mod">
          <ac:chgData name="Petray Wu" userId="208d83c5-8aac-4478-af47-3784c9c0dcdc" providerId="ADAL" clId="{B8B20F56-D2B5-4B25-A1A9-B04183A83DC3}" dt="2026-07-30T21:05:48.340" v="287"/>
          <ac:spMkLst>
            <pc:docMk/>
            <pc:sldMk cId="1433890548" sldId="2147482234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0:59:27.207" v="132"/>
          <ac:spMkLst>
            <pc:docMk/>
            <pc:sldMk cId="1433890548" sldId="2147482234"/>
            <ac:spMk id="503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5:48.423" v="323"/>
        <pc:sldMkLst>
          <pc:docMk/>
          <pc:sldMk cId="3464006206" sldId="2147482235"/>
        </pc:sldMkLst>
        <pc:spChg chg="mod">
          <ac:chgData name="Petray Wu" userId="208d83c5-8aac-4478-af47-3784c9c0dcdc" providerId="ADAL" clId="{B8B20F56-D2B5-4B25-A1A9-B04183A83DC3}" dt="2026-07-30T21:05:48.423" v="323"/>
          <ac:spMkLst>
            <pc:docMk/>
            <pc:sldMk cId="3464006206" sldId="2147482235"/>
            <ac:spMk id="502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0:59:27.250" v="148"/>
          <ac:spMkLst>
            <pc:docMk/>
            <pc:sldMk cId="3464006206" sldId="2147482235"/>
            <ac:spMk id="503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26" v="395"/>
        <pc:sldMkLst>
          <pc:docMk/>
          <pc:sldMk cId="2643014569" sldId="2147482236"/>
        </pc:sldMkLst>
        <pc:spChg chg="mod">
          <ac:chgData name="Petray Wu" userId="208d83c5-8aac-4478-af47-3784c9c0dcdc" providerId="ADAL" clId="{B8B20F56-D2B5-4B25-A1A9-B04183A83DC3}" dt="2026-07-30T21:07:45.026" v="395"/>
          <ac:spMkLst>
            <pc:docMk/>
            <pc:sldMk cId="2643014569" sldId="2147482236"/>
            <ac:spMk id="501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231" v="237"/>
          <ac:spMkLst>
            <pc:docMk/>
            <pc:sldMk cId="2643014569" sldId="2147482236"/>
            <ac:spMk id="502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27" v="398"/>
        <pc:sldMkLst>
          <pc:docMk/>
          <pc:sldMk cId="2896739703" sldId="2147482237"/>
        </pc:sldMkLst>
        <pc:spChg chg="mod">
          <ac:chgData name="Petray Wu" userId="208d83c5-8aac-4478-af47-3784c9c0dcdc" providerId="ADAL" clId="{B8B20F56-D2B5-4B25-A1A9-B04183A83DC3}" dt="2026-07-30T21:07:45.027" v="398"/>
          <ac:spMkLst>
            <pc:docMk/>
            <pc:sldMk cId="2896739703" sldId="2147482237"/>
            <ac:spMk id="501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267" v="255"/>
          <ac:spMkLst>
            <pc:docMk/>
            <pc:sldMk cId="2896739703" sldId="2147482237"/>
            <ac:spMk id="502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31" v="401"/>
        <pc:sldMkLst>
          <pc:docMk/>
          <pc:sldMk cId="1345854744" sldId="2147482238"/>
        </pc:sldMkLst>
        <pc:spChg chg="mod">
          <ac:chgData name="Petray Wu" userId="208d83c5-8aac-4478-af47-3784c9c0dcdc" providerId="ADAL" clId="{B8B20F56-D2B5-4B25-A1A9-B04183A83DC3}" dt="2026-07-30T21:07:45.031" v="401"/>
          <ac:spMkLst>
            <pc:docMk/>
            <pc:sldMk cId="1345854744" sldId="2147482238"/>
            <ac:spMk id="501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304" v="273"/>
          <ac:spMkLst>
            <pc:docMk/>
            <pc:sldMk cId="1345854744" sldId="2147482238"/>
            <ac:spMk id="502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37" v="404"/>
        <pc:sldMkLst>
          <pc:docMk/>
          <pc:sldMk cId="749514819" sldId="2147482239"/>
        </pc:sldMkLst>
        <pc:spChg chg="mod">
          <ac:chgData name="Petray Wu" userId="208d83c5-8aac-4478-af47-3784c9c0dcdc" providerId="ADAL" clId="{B8B20F56-D2B5-4B25-A1A9-B04183A83DC3}" dt="2026-07-30T21:07:45.037" v="404"/>
          <ac:spMkLst>
            <pc:docMk/>
            <pc:sldMk cId="749514819" sldId="2147482239"/>
            <ac:spMk id="501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346" v="291"/>
          <ac:spMkLst>
            <pc:docMk/>
            <pc:sldMk cId="749514819" sldId="2147482239"/>
            <ac:spMk id="502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42" v="407"/>
        <pc:sldMkLst>
          <pc:docMk/>
          <pc:sldMk cId="75786071" sldId="2147482240"/>
        </pc:sldMkLst>
        <pc:spChg chg="mod">
          <ac:chgData name="Petray Wu" userId="208d83c5-8aac-4478-af47-3784c9c0dcdc" providerId="ADAL" clId="{B8B20F56-D2B5-4B25-A1A9-B04183A83DC3}" dt="2026-07-30T21:07:45.042" v="407"/>
          <ac:spMkLst>
            <pc:docMk/>
            <pc:sldMk cId="75786071" sldId="2147482240"/>
            <ac:spMk id="501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393" v="309"/>
          <ac:spMkLst>
            <pc:docMk/>
            <pc:sldMk cId="75786071" sldId="2147482240"/>
            <ac:spMk id="502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45" v="410"/>
        <pc:sldMkLst>
          <pc:docMk/>
          <pc:sldMk cId="3751291401" sldId="2147482241"/>
        </pc:sldMkLst>
        <pc:spChg chg="mod">
          <ac:chgData name="Petray Wu" userId="208d83c5-8aac-4478-af47-3784c9c0dcdc" providerId="ADAL" clId="{B8B20F56-D2B5-4B25-A1A9-B04183A83DC3}" dt="2026-07-30T21:07:45.045" v="410"/>
          <ac:spMkLst>
            <pc:docMk/>
            <pc:sldMk cId="3751291401" sldId="2147482241"/>
            <ac:spMk id="501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432" v="327"/>
          <ac:spMkLst>
            <pc:docMk/>
            <pc:sldMk cId="3751291401" sldId="2147482241"/>
            <ac:spMk id="502" creationId="{00000000-0000-0000-0000-000000000000}"/>
          </ac:spMkLst>
        </pc:spChg>
      </pc:sldChg>
      <pc:sldChg chg="modSp mod">
        <pc:chgData name="Petray Wu" userId="208d83c5-8aac-4478-af47-3784c9c0dcdc" providerId="ADAL" clId="{B8B20F56-D2B5-4B25-A1A9-B04183A83DC3}" dt="2026-07-30T21:07:45.024" v="394"/>
        <pc:sldMkLst>
          <pc:docMk/>
          <pc:sldMk cId="1360412636" sldId="2147482242"/>
        </pc:sldMkLst>
        <pc:spChg chg="mod">
          <ac:chgData name="Petray Wu" userId="208d83c5-8aac-4478-af47-3784c9c0dcdc" providerId="ADAL" clId="{B8B20F56-D2B5-4B25-A1A9-B04183A83DC3}" dt="2026-07-30T21:07:45.024" v="394"/>
          <ac:spMkLst>
            <pc:docMk/>
            <pc:sldMk cId="1360412636" sldId="2147482242"/>
            <ac:spMk id="503" creationId="{00000000-0000-0000-0000-000000000000}"/>
          </ac:spMkLst>
        </pc:spChg>
        <pc:spChg chg="mod">
          <ac:chgData name="Petray Wu" userId="208d83c5-8aac-4478-af47-3784c9c0dcdc" providerId="ADAL" clId="{B8B20F56-D2B5-4B25-A1A9-B04183A83DC3}" dt="2026-07-30T21:05:48.225" v="235"/>
          <ac:spMkLst>
            <pc:docMk/>
            <pc:sldMk cId="1360412636" sldId="2147482242"/>
            <ac:spMk id="50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Urban HHs</c:v>
                </c:pt>
              </c:strCache>
            </c:strRef>
          </c:tx>
          <c:spPr>
            <a:solidFill>
              <a:srgbClr val="009CA7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404040"/>
                    </a:solidFill>
                    <a:latin typeface="Open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[first data year]</c:v>
                </c:pt>
                <c:pt idx="1">
                  <c:v>[baseline year]</c:v>
                </c:pt>
                <c:pt idx="2">
                  <c:v>[first target year]</c:v>
                </c:pt>
                <c:pt idx="3">
                  <c:v>[last target year]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620</c:v>
                </c:pt>
                <c:pt idx="1">
                  <c:v>940</c:v>
                </c:pt>
                <c:pt idx="2">
                  <c:v>1120</c:v>
                </c:pt>
                <c:pt idx="3">
                  <c:v>1483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01E-401D-BD30-0F81A50F0E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Rural HHs</c:v>
                </c:pt>
              </c:strCache>
            </c:strRef>
          </c:tx>
          <c:spPr>
            <a:solidFill>
              <a:srgbClr val="195B80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404040"/>
                    </a:solidFill>
                    <a:latin typeface="Open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[first data year]</c:v>
                </c:pt>
                <c:pt idx="1">
                  <c:v>[baseline year]</c:v>
                </c:pt>
                <c:pt idx="2">
                  <c:v>[first target year]</c:v>
                </c:pt>
                <c:pt idx="3">
                  <c:v>[last target year]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1850</c:v>
                </c:pt>
                <c:pt idx="1">
                  <c:v>2010</c:v>
                </c:pt>
                <c:pt idx="2">
                  <c:v>2100</c:v>
                </c:pt>
                <c:pt idx="3">
                  <c:v>2180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F01E-401D-BD30-0F81A50F0E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411"/>
        <c:axId val="422"/>
      </c:barChart>
      <c:catAx>
        <c:axId val="4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422"/>
        <c:crosses val="autoZero"/>
        <c:auto val="1"/>
        <c:lblAlgn val="ctr"/>
        <c:lblOffset val="100"/>
        <c:noMultiLvlLbl val="1"/>
      </c:catAx>
      <c:valAx>
        <c:axId val="422"/>
        <c:scaling>
          <c:orientation val="minMax"/>
        </c:scaling>
        <c:delete val="0"/>
        <c:axPos val="l"/>
        <c:title>
          <c:tx>
            <c:rich>
              <a:bodyPr rot="-5400000" vert="horz" anchor="ctr" anchorCtr="1"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r>
                  <a:rPr lang="en-US"/>
                  <a:t>Households ('000)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411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txPr>
        <a:bodyPr/>
        <a:lstStyle/>
        <a:p>
          <a:pPr>
            <a:defRPr sz="1200">
              <a:latin typeface="Open Sans"/>
            </a:defRPr>
          </a:pPr>
          <a:endParaRPr lang="en-US"/>
        </a:p>
      </c:txPr>
    </c:legend>
    <c:plotVisOnly val="1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Covered under BAU</c:v>
          </c:tx>
          <c:spPr>
            <a:solidFill>
              <a:srgbClr val="195B80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Open San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[baseline year]</c:v>
              </c:pt>
              <c:pt idx="1">
                <c:v>[first target year]</c:v>
              </c:pt>
              <c:pt idx="2">
                <c:v>[last target year]</c:v>
              </c:pt>
            </c:strLit>
          </c:cat>
          <c:val>
            <c:numLit>
              <c:formatCode>General</c:formatCode>
              <c:ptCount val="3"/>
              <c:pt idx="0">
                <c:v>480</c:v>
              </c:pt>
              <c:pt idx="1">
                <c:v>620</c:v>
              </c:pt>
              <c:pt idx="2">
                <c:v>800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3CE-4BD8-A0CF-2514C84FE820}"/>
            </c:ext>
          </c:extLst>
        </c:ser>
        <c:ser>
          <c:idx val="1"/>
          <c:order val="1"/>
          <c:tx>
            <c:v>Service gap to target</c:v>
          </c:tx>
          <c:spPr>
            <a:solidFill>
              <a:srgbClr val="B2E1E3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[baseline year]</c:v>
              </c:pt>
              <c:pt idx="1">
                <c:v>[first target year]</c:v>
              </c:pt>
              <c:pt idx="2">
                <c:v>[last target year]</c:v>
              </c:pt>
            </c:strLit>
          </c:cat>
          <c:val>
            <c:numLit>
              <c:formatCode>General</c:formatCode>
              <c:ptCount val="3"/>
              <c:pt idx="0">
                <c:v>0</c:v>
              </c:pt>
              <c:pt idx="1">
                <c:v>430</c:v>
              </c:pt>
              <c:pt idx="2">
                <c:v>683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83CE-4BD8-A0CF-2514C84FE8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11"/>
        <c:axId val="322"/>
      </c:barChart>
      <c:catAx>
        <c:axId val="3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322"/>
        <c:crosses val="autoZero"/>
        <c:auto val="1"/>
        <c:lblAlgn val="ctr"/>
        <c:lblOffset val="100"/>
        <c:noMultiLvlLbl val="1"/>
      </c:catAx>
      <c:valAx>
        <c:axId val="322"/>
        <c:scaling>
          <c:orientation val="minMax"/>
        </c:scaling>
        <c:delete val="0"/>
        <c:axPos val="l"/>
        <c:title>
          <c:tx>
            <c:rich>
              <a:bodyPr rot="-5400000" vert="horz" anchor="ctr" anchorCtr="1"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r>
                  <a:rPr lang="en-US"/>
                  <a:t>HHs with safely managed water ('000)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3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latin typeface="Open Sans"/>
            </a:defRPr>
          </a:pPr>
          <a:endParaRPr lang="en-US"/>
        </a:p>
      </c:txPr>
    </c:legend>
    <c:plotVisOnly val="1"/>
    <c:dispBlanksAs val="gap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areaChart>
        <c:grouping val="stacked"/>
        <c:varyColors val="0"/>
        <c:ser>
          <c:idx val="0"/>
          <c:order val="0"/>
          <c:tx>
            <c:v>BAU coverage</c:v>
          </c:tx>
          <c:spPr>
            <a:solidFill>
              <a:srgbClr val="195B80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480</c:v>
              </c:pt>
              <c:pt idx="1">
                <c:v>560</c:v>
              </c:pt>
              <c:pt idx="2">
                <c:v>680</c:v>
              </c:pt>
              <c:pt idx="3">
                <c:v>800</c:v>
              </c:pt>
            </c:numLit>
          </c:val>
          <c:extLst>
            <c:ext xmlns:c16="http://schemas.microsoft.com/office/drawing/2014/chart" uri="{C3380CC4-5D6E-409C-BE32-E72D297353CC}">
              <c16:uniqueId val="{00000000-7468-4C27-9ADC-32B56CFB73BF}"/>
            </c:ext>
          </c:extLst>
        </c:ser>
        <c:ser>
          <c:idx val="1"/>
          <c:order val="1"/>
          <c:tx>
            <c:v>+ NRW reduction</c:v>
          </c:tx>
          <c:spPr>
            <a:solidFill>
              <a:srgbClr val="009CA7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60</c:v>
              </c:pt>
              <c:pt idx="2">
                <c:v>180</c:v>
              </c:pt>
              <c:pt idx="3">
                <c:v>339</c:v>
              </c:pt>
            </c:numLit>
          </c:val>
          <c:extLst>
            <c:ext xmlns:c16="http://schemas.microsoft.com/office/drawing/2014/chart" uri="{C3380CC4-5D6E-409C-BE32-E72D297353CC}">
              <c16:uniqueId val="{00000001-7468-4C27-9ADC-32B56CFB73BF}"/>
            </c:ext>
          </c:extLst>
        </c:ser>
        <c:ser>
          <c:idx val="2"/>
          <c:order val="2"/>
          <c:tx>
            <c:v>+ Increased collection efficiency</c:v>
          </c:tx>
          <c:spPr>
            <a:solidFill>
              <a:srgbClr val="4CBAC1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40</c:v>
              </c:pt>
              <c:pt idx="2">
                <c:v>110</c:v>
              </c:pt>
              <c:pt idx="3">
                <c:v>192</c:v>
              </c:pt>
            </c:numLit>
          </c:val>
          <c:extLst>
            <c:ext xmlns:c16="http://schemas.microsoft.com/office/drawing/2014/chart" uri="{C3380CC4-5D6E-409C-BE32-E72D297353CC}">
              <c16:uniqueId val="{00000002-7468-4C27-9ADC-32B56CFB73BF}"/>
            </c:ext>
          </c:extLst>
        </c:ser>
        <c:ser>
          <c:idx val="3"/>
          <c:order val="3"/>
          <c:tx>
            <c:v>+ Capex efficiency (unit cost)</c:v>
          </c:tx>
          <c:spPr>
            <a:solidFill>
              <a:srgbClr val="80A3B8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20</c:v>
              </c:pt>
              <c:pt idx="2">
                <c:v>55</c:v>
              </c:pt>
              <c:pt idx="3">
                <c:v>91</c:v>
              </c:pt>
            </c:numLit>
          </c:val>
          <c:extLst>
            <c:ext xmlns:c16="http://schemas.microsoft.com/office/drawing/2014/chart" uri="{C3380CC4-5D6E-409C-BE32-E72D297353CC}">
              <c16:uniqueId val="{00000003-7468-4C27-9ADC-32B56CFB73BF}"/>
            </c:ext>
          </c:extLst>
        </c:ser>
        <c:ser>
          <c:idx val="4"/>
          <c:order val="4"/>
          <c:tx>
            <c:v>+ Tariff reform</c:v>
          </c:tx>
          <c:spPr>
            <a:solidFill>
              <a:srgbClr val="B2E1E3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15</c:v>
              </c:pt>
              <c:pt idx="2">
                <c:v>38</c:v>
              </c:pt>
              <c:pt idx="3">
                <c:v>61</c:v>
              </c:pt>
            </c:numLit>
          </c:val>
          <c:extLst>
            <c:ext xmlns:c16="http://schemas.microsoft.com/office/drawing/2014/chart" uri="{C3380CC4-5D6E-409C-BE32-E72D297353CC}">
              <c16:uniqueId val="{00000004-7468-4C27-9ADC-32B56CFB7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"/>
        <c:axId val="222"/>
      </c:areaChart>
      <c:lineChart>
        <c:grouping val="standard"/>
        <c:varyColors val="0"/>
        <c:ser>
          <c:idx val="5"/>
          <c:order val="5"/>
          <c:tx>
            <c:v>Total HHs (100% target)</c:v>
          </c:tx>
          <c:spPr>
            <a:ln w="25400">
              <a:solidFill>
                <a:srgbClr val="0E2841"/>
              </a:solidFill>
              <a:prstDash val="dash"/>
            </a:ln>
          </c:spPr>
          <c:marker>
            <c:symbol val="none"/>
          </c:marke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900</c:v>
              </c:pt>
              <c:pt idx="1">
                <c:v>1050</c:v>
              </c:pt>
              <c:pt idx="2">
                <c:v>1250</c:v>
              </c:pt>
              <c:pt idx="3">
                <c:v>1483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7468-4C27-9ADC-32B56CFB7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"/>
        <c:axId val="222"/>
      </c:line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0"/>
        <c:axPos val="l"/>
        <c:title>
          <c:tx>
            <c:rich>
              <a:bodyPr rot="-5400000" vert="horz" anchor="ctr" anchorCtr="1"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r>
                  <a:rPr lang="en-US"/>
                  <a:t>HHs with safely managed water ('000)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1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Open Sans"/>
            </a:defRPr>
          </a:pPr>
          <a:endParaRPr lang="en-US"/>
        </a:p>
      </c:txPr>
    </c:legend>
    <c:plotVisOnly val="1"/>
    <c:dispBlanksAs val="gap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Covered under BAU</c:v>
          </c:tx>
          <c:spPr>
            <a:solidFill>
              <a:srgbClr val="195B80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Open San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[baseline year]</c:v>
              </c:pt>
              <c:pt idx="1">
                <c:v>[first target year]</c:v>
              </c:pt>
              <c:pt idx="2">
                <c:v>[last target year]</c:v>
              </c:pt>
            </c:strLit>
          </c:cat>
          <c:val>
            <c:numLit>
              <c:formatCode>General</c:formatCode>
              <c:ptCount val="3"/>
              <c:pt idx="0">
                <c:v>480</c:v>
              </c:pt>
              <c:pt idx="1">
                <c:v>620</c:v>
              </c:pt>
              <c:pt idx="2">
                <c:v>800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3CE-4BD8-A0CF-2514C84FE820}"/>
            </c:ext>
          </c:extLst>
        </c:ser>
        <c:ser>
          <c:idx val="1"/>
          <c:order val="1"/>
          <c:tx>
            <c:v>Service gap to target</c:v>
          </c:tx>
          <c:spPr>
            <a:solidFill>
              <a:srgbClr val="B2E1E3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[baseline year]</c:v>
              </c:pt>
              <c:pt idx="1">
                <c:v>[first target year]</c:v>
              </c:pt>
              <c:pt idx="2">
                <c:v>[last target year]</c:v>
              </c:pt>
            </c:strLit>
          </c:cat>
          <c:val>
            <c:numLit>
              <c:formatCode>General</c:formatCode>
              <c:ptCount val="3"/>
              <c:pt idx="0">
                <c:v>0</c:v>
              </c:pt>
              <c:pt idx="1">
                <c:v>430</c:v>
              </c:pt>
              <c:pt idx="2">
                <c:v>683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83CE-4BD8-A0CF-2514C84FE8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11"/>
        <c:axId val="322"/>
      </c:barChart>
      <c:catAx>
        <c:axId val="3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322"/>
        <c:crosses val="autoZero"/>
        <c:auto val="1"/>
        <c:lblAlgn val="ctr"/>
        <c:lblOffset val="100"/>
        <c:noMultiLvlLbl val="1"/>
      </c:catAx>
      <c:valAx>
        <c:axId val="322"/>
        <c:scaling>
          <c:orientation val="minMax"/>
        </c:scaling>
        <c:delete val="0"/>
        <c:axPos val="l"/>
        <c:title>
          <c:tx>
            <c:rich>
              <a:bodyPr rot="-5400000" vert="horz" anchor="ctr" anchorCtr="1"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r>
                  <a:rPr lang="en-US"/>
                  <a:t>HHs with safely managed water ('000)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3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latin typeface="Open Sans"/>
            </a:defRPr>
          </a:pPr>
          <a:endParaRPr lang="en-US"/>
        </a:p>
      </c:txPr>
    </c:legend>
    <c:plotVisOnly val="1"/>
    <c:dispBlanksAs val="gap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areaChart>
        <c:grouping val="stacked"/>
        <c:varyColors val="0"/>
        <c:ser>
          <c:idx val="0"/>
          <c:order val="0"/>
          <c:tx>
            <c:v>BAU coverage</c:v>
          </c:tx>
          <c:spPr>
            <a:solidFill>
              <a:srgbClr val="195B80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480</c:v>
              </c:pt>
              <c:pt idx="1">
                <c:v>560</c:v>
              </c:pt>
              <c:pt idx="2">
                <c:v>680</c:v>
              </c:pt>
              <c:pt idx="3">
                <c:v>800</c:v>
              </c:pt>
            </c:numLit>
          </c:val>
          <c:extLst>
            <c:ext xmlns:c16="http://schemas.microsoft.com/office/drawing/2014/chart" uri="{C3380CC4-5D6E-409C-BE32-E72D297353CC}">
              <c16:uniqueId val="{00000000-7468-4C27-9ADC-32B56CFB73BF}"/>
            </c:ext>
          </c:extLst>
        </c:ser>
        <c:ser>
          <c:idx val="1"/>
          <c:order val="1"/>
          <c:tx>
            <c:v>+ NRW reduction</c:v>
          </c:tx>
          <c:spPr>
            <a:solidFill>
              <a:srgbClr val="009CA7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60</c:v>
              </c:pt>
              <c:pt idx="2">
                <c:v>180</c:v>
              </c:pt>
              <c:pt idx="3">
                <c:v>339</c:v>
              </c:pt>
            </c:numLit>
          </c:val>
          <c:extLst>
            <c:ext xmlns:c16="http://schemas.microsoft.com/office/drawing/2014/chart" uri="{C3380CC4-5D6E-409C-BE32-E72D297353CC}">
              <c16:uniqueId val="{00000001-7468-4C27-9ADC-32B56CFB73BF}"/>
            </c:ext>
          </c:extLst>
        </c:ser>
        <c:ser>
          <c:idx val="2"/>
          <c:order val="2"/>
          <c:tx>
            <c:v>+ Increased collection efficiency</c:v>
          </c:tx>
          <c:spPr>
            <a:solidFill>
              <a:srgbClr val="4CBAC1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40</c:v>
              </c:pt>
              <c:pt idx="2">
                <c:v>110</c:v>
              </c:pt>
              <c:pt idx="3">
                <c:v>192</c:v>
              </c:pt>
            </c:numLit>
          </c:val>
          <c:extLst>
            <c:ext xmlns:c16="http://schemas.microsoft.com/office/drawing/2014/chart" uri="{C3380CC4-5D6E-409C-BE32-E72D297353CC}">
              <c16:uniqueId val="{00000002-7468-4C27-9ADC-32B56CFB73BF}"/>
            </c:ext>
          </c:extLst>
        </c:ser>
        <c:ser>
          <c:idx val="3"/>
          <c:order val="3"/>
          <c:tx>
            <c:v>+ Capex efficiency (unit cost)</c:v>
          </c:tx>
          <c:spPr>
            <a:solidFill>
              <a:srgbClr val="80A3B8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20</c:v>
              </c:pt>
              <c:pt idx="2">
                <c:v>55</c:v>
              </c:pt>
              <c:pt idx="3">
                <c:v>91</c:v>
              </c:pt>
            </c:numLit>
          </c:val>
          <c:extLst>
            <c:ext xmlns:c16="http://schemas.microsoft.com/office/drawing/2014/chart" uri="{C3380CC4-5D6E-409C-BE32-E72D297353CC}">
              <c16:uniqueId val="{00000003-7468-4C27-9ADC-32B56CFB73BF}"/>
            </c:ext>
          </c:extLst>
        </c:ser>
        <c:ser>
          <c:idx val="4"/>
          <c:order val="4"/>
          <c:tx>
            <c:v>+ Tariff reform</c:v>
          </c:tx>
          <c:spPr>
            <a:solidFill>
              <a:srgbClr val="B2E1E3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15</c:v>
              </c:pt>
              <c:pt idx="2">
                <c:v>38</c:v>
              </c:pt>
              <c:pt idx="3">
                <c:v>61</c:v>
              </c:pt>
            </c:numLit>
          </c:val>
          <c:extLst>
            <c:ext xmlns:c16="http://schemas.microsoft.com/office/drawing/2014/chart" uri="{C3380CC4-5D6E-409C-BE32-E72D297353CC}">
              <c16:uniqueId val="{00000004-7468-4C27-9ADC-32B56CFB7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"/>
        <c:axId val="222"/>
      </c:areaChart>
      <c:lineChart>
        <c:grouping val="standard"/>
        <c:varyColors val="0"/>
        <c:ser>
          <c:idx val="5"/>
          <c:order val="5"/>
          <c:tx>
            <c:v>Total HHs (100% target)</c:v>
          </c:tx>
          <c:spPr>
            <a:ln w="25400">
              <a:solidFill>
                <a:srgbClr val="0E2841"/>
              </a:solidFill>
              <a:prstDash val="dash"/>
            </a:ln>
          </c:spPr>
          <c:marker>
            <c:symbol val="none"/>
          </c:marke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900</c:v>
              </c:pt>
              <c:pt idx="1">
                <c:v>1050</c:v>
              </c:pt>
              <c:pt idx="2">
                <c:v>1250</c:v>
              </c:pt>
              <c:pt idx="3">
                <c:v>1483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7468-4C27-9ADC-32B56CFB7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"/>
        <c:axId val="222"/>
      </c:line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0"/>
        <c:axPos val="l"/>
        <c:title>
          <c:tx>
            <c:rich>
              <a:bodyPr rot="-5400000" vert="horz" anchor="ctr" anchorCtr="1"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r>
                  <a:rPr lang="en-US"/>
                  <a:t>HHs with safely managed water ('000)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1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Open Sans"/>
            </a:defRPr>
          </a:pPr>
          <a:endParaRPr lang="en-US"/>
        </a:p>
      </c:txPr>
    </c:legend>
    <c:plotVisOnly val="1"/>
    <c:dispBlanksAs val="gap"/>
    <c:showDLblsOverMax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Covered under BAU</c:v>
          </c:tx>
          <c:spPr>
            <a:solidFill>
              <a:srgbClr val="195B80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Open San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[baseline year]</c:v>
              </c:pt>
              <c:pt idx="1">
                <c:v>[first target year]</c:v>
              </c:pt>
              <c:pt idx="2">
                <c:v>[last target year]</c:v>
              </c:pt>
            </c:strLit>
          </c:cat>
          <c:val>
            <c:numLit>
              <c:formatCode>General</c:formatCode>
              <c:ptCount val="3"/>
              <c:pt idx="0">
                <c:v>480</c:v>
              </c:pt>
              <c:pt idx="1">
                <c:v>620</c:v>
              </c:pt>
              <c:pt idx="2">
                <c:v>800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3CE-4BD8-A0CF-2514C84FE820}"/>
            </c:ext>
          </c:extLst>
        </c:ser>
        <c:ser>
          <c:idx val="1"/>
          <c:order val="1"/>
          <c:tx>
            <c:v>Service gap to target</c:v>
          </c:tx>
          <c:spPr>
            <a:solidFill>
              <a:srgbClr val="B2E1E3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[baseline year]</c:v>
              </c:pt>
              <c:pt idx="1">
                <c:v>[first target year]</c:v>
              </c:pt>
              <c:pt idx="2">
                <c:v>[last target year]</c:v>
              </c:pt>
            </c:strLit>
          </c:cat>
          <c:val>
            <c:numLit>
              <c:formatCode>General</c:formatCode>
              <c:ptCount val="3"/>
              <c:pt idx="0">
                <c:v>0</c:v>
              </c:pt>
              <c:pt idx="1">
                <c:v>430</c:v>
              </c:pt>
              <c:pt idx="2">
                <c:v>683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83CE-4BD8-A0CF-2514C84FE8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11"/>
        <c:axId val="322"/>
      </c:barChart>
      <c:catAx>
        <c:axId val="3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322"/>
        <c:crosses val="autoZero"/>
        <c:auto val="1"/>
        <c:lblAlgn val="ctr"/>
        <c:lblOffset val="100"/>
        <c:noMultiLvlLbl val="1"/>
      </c:catAx>
      <c:valAx>
        <c:axId val="322"/>
        <c:scaling>
          <c:orientation val="minMax"/>
        </c:scaling>
        <c:delete val="0"/>
        <c:axPos val="l"/>
        <c:title>
          <c:tx>
            <c:rich>
              <a:bodyPr rot="-5400000" vert="horz" anchor="ctr" anchorCtr="1"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r>
                  <a:rPr lang="en-US"/>
                  <a:t>HHs with safely managed sanitation ('000)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3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latin typeface="Open Sans"/>
            </a:defRPr>
          </a:pPr>
          <a:endParaRPr lang="en-US"/>
        </a:p>
      </c:txPr>
    </c:legend>
    <c:plotVisOnly val="1"/>
    <c:dispBlanksAs val="gap"/>
    <c:showDLblsOverMax val="1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areaChart>
        <c:grouping val="stacked"/>
        <c:varyColors val="0"/>
        <c:ser>
          <c:idx val="0"/>
          <c:order val="0"/>
          <c:tx>
            <c:v>BAU coverage</c:v>
          </c:tx>
          <c:spPr>
            <a:solidFill>
              <a:srgbClr val="195B80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480</c:v>
              </c:pt>
              <c:pt idx="1">
                <c:v>560</c:v>
              </c:pt>
              <c:pt idx="2">
                <c:v>680</c:v>
              </c:pt>
              <c:pt idx="3">
                <c:v>800</c:v>
              </c:pt>
            </c:numLit>
          </c:val>
          <c:extLst>
            <c:ext xmlns:c16="http://schemas.microsoft.com/office/drawing/2014/chart" uri="{C3380CC4-5D6E-409C-BE32-E72D297353CC}">
              <c16:uniqueId val="{00000000-7468-4C27-9ADC-32B56CFB73BF}"/>
            </c:ext>
          </c:extLst>
        </c:ser>
        <c:ser>
          <c:idx val="1"/>
          <c:order val="1"/>
          <c:tx>
            <c:v>+ Increased collection efficiency</c:v>
          </c:tx>
          <c:spPr>
            <a:solidFill>
              <a:srgbClr val="009CA7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60</c:v>
              </c:pt>
              <c:pt idx="2">
                <c:v>180</c:v>
              </c:pt>
              <c:pt idx="3">
                <c:v>339</c:v>
              </c:pt>
            </c:numLit>
          </c:val>
          <c:extLst>
            <c:ext xmlns:c16="http://schemas.microsoft.com/office/drawing/2014/chart" uri="{C3380CC4-5D6E-409C-BE32-E72D297353CC}">
              <c16:uniqueId val="{00000001-7468-4C27-9ADC-32B56CFB73BF}"/>
            </c:ext>
          </c:extLst>
        </c:ser>
        <c:ser>
          <c:idx val="2"/>
          <c:order val="2"/>
          <c:tx>
            <c:v>+ Budget execution improvement</c:v>
          </c:tx>
          <c:spPr>
            <a:solidFill>
              <a:srgbClr val="4CBAC1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40</c:v>
              </c:pt>
              <c:pt idx="2">
                <c:v>110</c:v>
              </c:pt>
              <c:pt idx="3">
                <c:v>192</c:v>
              </c:pt>
            </c:numLit>
          </c:val>
          <c:extLst>
            <c:ext xmlns:c16="http://schemas.microsoft.com/office/drawing/2014/chart" uri="{C3380CC4-5D6E-409C-BE32-E72D297353CC}">
              <c16:uniqueId val="{00000002-7468-4C27-9ADC-32B56CFB73BF}"/>
            </c:ext>
          </c:extLst>
        </c:ser>
        <c:ser>
          <c:idx val="3"/>
          <c:order val="3"/>
          <c:tx>
            <c:v>+ Tariff reform</c:v>
          </c:tx>
          <c:spPr>
            <a:solidFill>
              <a:srgbClr val="80A3B8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20</c:v>
              </c:pt>
              <c:pt idx="2">
                <c:v>55</c:v>
              </c:pt>
              <c:pt idx="3">
                <c:v>91</c:v>
              </c:pt>
            </c:numLit>
          </c:val>
          <c:extLst>
            <c:ext xmlns:c16="http://schemas.microsoft.com/office/drawing/2014/chart" uri="{C3380CC4-5D6E-409C-BE32-E72D297353CC}">
              <c16:uniqueId val="{00000003-7468-4C27-9ADC-32B56CFB73BF}"/>
            </c:ext>
          </c:extLst>
        </c:ser>
        <c:ser>
          <c:idx val="4"/>
          <c:order val="4"/>
          <c:tx>
            <c:v>+ Microfinance</c:v>
          </c:tx>
          <c:spPr>
            <a:solidFill>
              <a:srgbClr val="B2E1E3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15</c:v>
              </c:pt>
              <c:pt idx="2">
                <c:v>38</c:v>
              </c:pt>
              <c:pt idx="3">
                <c:v>61</c:v>
              </c:pt>
            </c:numLit>
          </c:val>
          <c:extLst>
            <c:ext xmlns:c16="http://schemas.microsoft.com/office/drawing/2014/chart" uri="{C3380CC4-5D6E-409C-BE32-E72D297353CC}">
              <c16:uniqueId val="{00000004-7468-4C27-9ADC-32B56CFB7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"/>
        <c:axId val="222"/>
      </c:areaChart>
      <c:lineChart>
        <c:grouping val="standard"/>
        <c:varyColors val="0"/>
        <c:ser>
          <c:idx val="5"/>
          <c:order val="5"/>
          <c:tx>
            <c:v>Total HHs (100% target)</c:v>
          </c:tx>
          <c:spPr>
            <a:ln w="25400">
              <a:solidFill>
                <a:srgbClr val="0E2841"/>
              </a:solidFill>
              <a:prstDash val="dash"/>
            </a:ln>
          </c:spPr>
          <c:marker>
            <c:symbol val="none"/>
          </c:marke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900</c:v>
              </c:pt>
              <c:pt idx="1">
                <c:v>1050</c:v>
              </c:pt>
              <c:pt idx="2">
                <c:v>1250</c:v>
              </c:pt>
              <c:pt idx="3">
                <c:v>1483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7468-4C27-9ADC-32B56CFB7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"/>
        <c:axId val="222"/>
      </c:line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0"/>
        <c:axPos val="l"/>
        <c:title>
          <c:tx>
            <c:rich>
              <a:bodyPr rot="-5400000" vert="horz" anchor="ctr" anchorCtr="1"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r>
                  <a:rPr lang="en-US"/>
                  <a:t>HHs with safely managed sanitation ('000)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1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Open Sans"/>
            </a:defRPr>
          </a:pPr>
          <a:endParaRPr lang="en-US"/>
        </a:p>
      </c:txPr>
    </c:legend>
    <c:plotVisOnly val="1"/>
    <c:dispBlanksAs val="gap"/>
    <c:showDLblsOverMax val="1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Covered under BAU</c:v>
          </c:tx>
          <c:spPr>
            <a:solidFill>
              <a:srgbClr val="195B80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Open San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[baseline year]</c:v>
              </c:pt>
              <c:pt idx="1">
                <c:v>[first target year]</c:v>
              </c:pt>
              <c:pt idx="2">
                <c:v>[last target year]</c:v>
              </c:pt>
            </c:strLit>
          </c:cat>
          <c:val>
            <c:numLit>
              <c:formatCode>General</c:formatCode>
              <c:ptCount val="3"/>
              <c:pt idx="0">
                <c:v>480</c:v>
              </c:pt>
              <c:pt idx="1">
                <c:v>620</c:v>
              </c:pt>
              <c:pt idx="2">
                <c:v>800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3CE-4BD8-A0CF-2514C84FE820}"/>
            </c:ext>
          </c:extLst>
        </c:ser>
        <c:ser>
          <c:idx val="1"/>
          <c:order val="1"/>
          <c:tx>
            <c:v>Service gap to target</c:v>
          </c:tx>
          <c:spPr>
            <a:solidFill>
              <a:srgbClr val="B2E1E3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[baseline year]</c:v>
              </c:pt>
              <c:pt idx="1">
                <c:v>[first target year]</c:v>
              </c:pt>
              <c:pt idx="2">
                <c:v>[last target year]</c:v>
              </c:pt>
            </c:strLit>
          </c:cat>
          <c:val>
            <c:numLit>
              <c:formatCode>General</c:formatCode>
              <c:ptCount val="3"/>
              <c:pt idx="0">
                <c:v>0</c:v>
              </c:pt>
              <c:pt idx="1">
                <c:v>430</c:v>
              </c:pt>
              <c:pt idx="2">
                <c:v>683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83CE-4BD8-A0CF-2514C84FE8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11"/>
        <c:axId val="322"/>
      </c:barChart>
      <c:catAx>
        <c:axId val="3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322"/>
        <c:crosses val="autoZero"/>
        <c:auto val="1"/>
        <c:lblAlgn val="ctr"/>
        <c:lblOffset val="100"/>
        <c:noMultiLvlLbl val="1"/>
      </c:catAx>
      <c:valAx>
        <c:axId val="322"/>
        <c:scaling>
          <c:orientation val="minMax"/>
        </c:scaling>
        <c:delete val="0"/>
        <c:axPos val="l"/>
        <c:title>
          <c:tx>
            <c:rich>
              <a:bodyPr rot="-5400000" vert="horz" anchor="ctr" anchorCtr="1"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r>
                  <a:rPr lang="en-US"/>
                  <a:t>HHs with safely managed sanitation ('000)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3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latin typeface="Open Sans"/>
            </a:defRPr>
          </a:pPr>
          <a:endParaRPr lang="en-US"/>
        </a:p>
      </c:txPr>
    </c:legend>
    <c:plotVisOnly val="1"/>
    <c:dispBlanksAs val="gap"/>
    <c:showDLblsOverMax val="1"/>
  </c:char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areaChart>
        <c:grouping val="stacked"/>
        <c:varyColors val="0"/>
        <c:ser>
          <c:idx val="0"/>
          <c:order val="0"/>
          <c:tx>
            <c:v>BAU coverage</c:v>
          </c:tx>
          <c:spPr>
            <a:solidFill>
              <a:srgbClr val="195B80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480</c:v>
              </c:pt>
              <c:pt idx="1">
                <c:v>560</c:v>
              </c:pt>
              <c:pt idx="2">
                <c:v>680</c:v>
              </c:pt>
              <c:pt idx="3">
                <c:v>800</c:v>
              </c:pt>
            </c:numLit>
          </c:val>
          <c:extLst>
            <c:ext xmlns:c16="http://schemas.microsoft.com/office/drawing/2014/chart" uri="{C3380CC4-5D6E-409C-BE32-E72D297353CC}">
              <c16:uniqueId val="{00000000-7468-4C27-9ADC-32B56CFB73BF}"/>
            </c:ext>
          </c:extLst>
        </c:ser>
        <c:ser>
          <c:idx val="1"/>
          <c:order val="1"/>
          <c:tx>
            <c:v>+ Increased collection efficiency</c:v>
          </c:tx>
          <c:spPr>
            <a:solidFill>
              <a:srgbClr val="009CA7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60</c:v>
              </c:pt>
              <c:pt idx="2">
                <c:v>180</c:v>
              </c:pt>
              <c:pt idx="3">
                <c:v>339</c:v>
              </c:pt>
            </c:numLit>
          </c:val>
          <c:extLst>
            <c:ext xmlns:c16="http://schemas.microsoft.com/office/drawing/2014/chart" uri="{C3380CC4-5D6E-409C-BE32-E72D297353CC}">
              <c16:uniqueId val="{00000001-7468-4C27-9ADC-32B56CFB73BF}"/>
            </c:ext>
          </c:extLst>
        </c:ser>
        <c:ser>
          <c:idx val="2"/>
          <c:order val="2"/>
          <c:tx>
            <c:v>+ Budget execution improvement</c:v>
          </c:tx>
          <c:spPr>
            <a:solidFill>
              <a:srgbClr val="4CBAC1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40</c:v>
              </c:pt>
              <c:pt idx="2">
                <c:v>110</c:v>
              </c:pt>
              <c:pt idx="3">
                <c:v>192</c:v>
              </c:pt>
            </c:numLit>
          </c:val>
          <c:extLst>
            <c:ext xmlns:c16="http://schemas.microsoft.com/office/drawing/2014/chart" uri="{C3380CC4-5D6E-409C-BE32-E72D297353CC}">
              <c16:uniqueId val="{00000002-7468-4C27-9ADC-32B56CFB73BF}"/>
            </c:ext>
          </c:extLst>
        </c:ser>
        <c:ser>
          <c:idx val="3"/>
          <c:order val="3"/>
          <c:tx>
            <c:v>+ Tariff reform</c:v>
          </c:tx>
          <c:spPr>
            <a:solidFill>
              <a:srgbClr val="80A3B8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20</c:v>
              </c:pt>
              <c:pt idx="2">
                <c:v>55</c:v>
              </c:pt>
              <c:pt idx="3">
                <c:v>91</c:v>
              </c:pt>
            </c:numLit>
          </c:val>
          <c:extLst>
            <c:ext xmlns:c16="http://schemas.microsoft.com/office/drawing/2014/chart" uri="{C3380CC4-5D6E-409C-BE32-E72D297353CC}">
              <c16:uniqueId val="{00000003-7468-4C27-9ADC-32B56CFB73BF}"/>
            </c:ext>
          </c:extLst>
        </c:ser>
        <c:ser>
          <c:idx val="4"/>
          <c:order val="4"/>
          <c:tx>
            <c:v>+ Microfinance</c:v>
          </c:tx>
          <c:spPr>
            <a:solidFill>
              <a:srgbClr val="B2E1E3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15</c:v>
              </c:pt>
              <c:pt idx="2">
                <c:v>38</c:v>
              </c:pt>
              <c:pt idx="3">
                <c:v>61</c:v>
              </c:pt>
            </c:numLit>
          </c:val>
          <c:extLst>
            <c:ext xmlns:c16="http://schemas.microsoft.com/office/drawing/2014/chart" uri="{C3380CC4-5D6E-409C-BE32-E72D297353CC}">
              <c16:uniqueId val="{00000004-7468-4C27-9ADC-32B56CFB7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"/>
        <c:axId val="222"/>
      </c:areaChart>
      <c:lineChart>
        <c:grouping val="standard"/>
        <c:varyColors val="0"/>
        <c:ser>
          <c:idx val="5"/>
          <c:order val="5"/>
          <c:tx>
            <c:v>Total HHs (100% target)</c:v>
          </c:tx>
          <c:spPr>
            <a:ln w="25400">
              <a:solidFill>
                <a:srgbClr val="0E2841"/>
              </a:solidFill>
              <a:prstDash val="dash"/>
            </a:ln>
          </c:spPr>
          <c:marker>
            <c:symbol val="none"/>
          </c:marke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900</c:v>
              </c:pt>
              <c:pt idx="1">
                <c:v>1050</c:v>
              </c:pt>
              <c:pt idx="2">
                <c:v>1250</c:v>
              </c:pt>
              <c:pt idx="3">
                <c:v>1483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7468-4C27-9ADC-32B56CFB7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"/>
        <c:axId val="222"/>
      </c:line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0"/>
        <c:axPos val="l"/>
        <c:title>
          <c:tx>
            <c:rich>
              <a:bodyPr rot="-5400000" vert="horz" anchor="ctr" anchorCtr="1"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r>
                  <a:rPr lang="en-US"/>
                  <a:t>HHs with safely managed sanitation ('000)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1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Open Sans"/>
            </a:defRPr>
          </a:pPr>
          <a:endParaRPr lang="en-US"/>
        </a:p>
      </c:txPr>
    </c:legend>
    <c:plotVisOnly val="1"/>
    <c:dispBlanksAs val="gap"/>
    <c:showDLblsOverMax val="1"/>
  </c:char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Covered under BAU</c:v>
          </c:tx>
          <c:spPr>
            <a:solidFill>
              <a:srgbClr val="195B80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Open San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[baseline year]</c:v>
              </c:pt>
              <c:pt idx="1">
                <c:v>[first target year]</c:v>
              </c:pt>
              <c:pt idx="2">
                <c:v>[last target year]</c:v>
              </c:pt>
            </c:strLit>
          </c:cat>
          <c:val>
            <c:numLit>
              <c:formatCode>General</c:formatCode>
              <c:ptCount val="3"/>
              <c:pt idx="0">
                <c:v>480</c:v>
              </c:pt>
              <c:pt idx="1">
                <c:v>620</c:v>
              </c:pt>
              <c:pt idx="2">
                <c:v>800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3CE-4BD8-A0CF-2514C84FE820}"/>
            </c:ext>
          </c:extLst>
        </c:ser>
        <c:ser>
          <c:idx val="1"/>
          <c:order val="1"/>
          <c:tx>
            <c:v>Service gap to target</c:v>
          </c:tx>
          <c:spPr>
            <a:solidFill>
              <a:srgbClr val="B2E1E3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[baseline year]</c:v>
              </c:pt>
              <c:pt idx="1">
                <c:v>[first target year]</c:v>
              </c:pt>
              <c:pt idx="2">
                <c:v>[last target year]</c:v>
              </c:pt>
            </c:strLit>
          </c:cat>
          <c:val>
            <c:numLit>
              <c:formatCode>General</c:formatCode>
              <c:ptCount val="3"/>
              <c:pt idx="0">
                <c:v>0</c:v>
              </c:pt>
              <c:pt idx="1">
                <c:v>430</c:v>
              </c:pt>
              <c:pt idx="2">
                <c:v>683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83CE-4BD8-A0CF-2514C84FE8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11"/>
        <c:axId val="322"/>
      </c:barChart>
      <c:catAx>
        <c:axId val="3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322"/>
        <c:crosses val="autoZero"/>
        <c:auto val="1"/>
        <c:lblAlgn val="ctr"/>
        <c:lblOffset val="100"/>
        <c:noMultiLvlLbl val="1"/>
      </c:catAx>
      <c:valAx>
        <c:axId val="322"/>
        <c:scaling>
          <c:orientation val="minMax"/>
        </c:scaling>
        <c:delete val="0"/>
        <c:axPos val="l"/>
        <c:title>
          <c:tx>
            <c:rich>
              <a:bodyPr rot="-5400000" vert="horz" anchor="ctr" anchorCtr="1"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r>
                  <a:rPr lang="en-US"/>
                  <a:t>HHs with safely managed water ('000)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3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latin typeface="Open Sans"/>
            </a:defRPr>
          </a:pPr>
          <a:endParaRPr lang="en-US"/>
        </a:p>
      </c:txPr>
    </c:legend>
    <c:plotVisOnly val="1"/>
    <c:dispBlanksAs val="gap"/>
    <c:showDLblsOverMax val="1"/>
  </c:char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areaChart>
        <c:grouping val="stacked"/>
        <c:varyColors val="0"/>
        <c:ser>
          <c:idx val="0"/>
          <c:order val="0"/>
          <c:tx>
            <c:v>BAU coverage</c:v>
          </c:tx>
          <c:spPr>
            <a:solidFill>
              <a:srgbClr val="195B80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480</c:v>
              </c:pt>
              <c:pt idx="1">
                <c:v>560</c:v>
              </c:pt>
              <c:pt idx="2">
                <c:v>680</c:v>
              </c:pt>
              <c:pt idx="3">
                <c:v>800</c:v>
              </c:pt>
            </c:numLit>
          </c:val>
          <c:extLst>
            <c:ext xmlns:c16="http://schemas.microsoft.com/office/drawing/2014/chart" uri="{C3380CC4-5D6E-409C-BE32-E72D297353CC}">
              <c16:uniqueId val="{00000000-7468-4C27-9ADC-32B56CFB73BF}"/>
            </c:ext>
          </c:extLst>
        </c:ser>
        <c:ser>
          <c:idx val="1"/>
          <c:order val="1"/>
          <c:tx>
            <c:v>+ NRW reduction</c:v>
          </c:tx>
          <c:spPr>
            <a:solidFill>
              <a:srgbClr val="009CA7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60</c:v>
              </c:pt>
              <c:pt idx="2">
                <c:v>180</c:v>
              </c:pt>
              <c:pt idx="3">
                <c:v>339</c:v>
              </c:pt>
            </c:numLit>
          </c:val>
          <c:extLst>
            <c:ext xmlns:c16="http://schemas.microsoft.com/office/drawing/2014/chart" uri="{C3380CC4-5D6E-409C-BE32-E72D297353CC}">
              <c16:uniqueId val="{00000001-7468-4C27-9ADC-32B56CFB73BF}"/>
            </c:ext>
          </c:extLst>
        </c:ser>
        <c:ser>
          <c:idx val="2"/>
          <c:order val="2"/>
          <c:tx>
            <c:v>+ Increased collection efficiency</c:v>
          </c:tx>
          <c:spPr>
            <a:solidFill>
              <a:srgbClr val="4CBAC1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40</c:v>
              </c:pt>
              <c:pt idx="2">
                <c:v>110</c:v>
              </c:pt>
              <c:pt idx="3">
                <c:v>192</c:v>
              </c:pt>
            </c:numLit>
          </c:val>
          <c:extLst>
            <c:ext xmlns:c16="http://schemas.microsoft.com/office/drawing/2014/chart" uri="{C3380CC4-5D6E-409C-BE32-E72D297353CC}">
              <c16:uniqueId val="{00000002-7468-4C27-9ADC-32B56CFB73BF}"/>
            </c:ext>
          </c:extLst>
        </c:ser>
        <c:ser>
          <c:idx val="3"/>
          <c:order val="3"/>
          <c:tx>
            <c:v>+ Capex efficiency (unit cost)</c:v>
          </c:tx>
          <c:spPr>
            <a:solidFill>
              <a:srgbClr val="80A3B8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20</c:v>
              </c:pt>
              <c:pt idx="2">
                <c:v>55</c:v>
              </c:pt>
              <c:pt idx="3">
                <c:v>91</c:v>
              </c:pt>
            </c:numLit>
          </c:val>
          <c:extLst>
            <c:ext xmlns:c16="http://schemas.microsoft.com/office/drawing/2014/chart" uri="{C3380CC4-5D6E-409C-BE32-E72D297353CC}">
              <c16:uniqueId val="{00000003-7468-4C27-9ADC-32B56CFB73BF}"/>
            </c:ext>
          </c:extLst>
        </c:ser>
        <c:ser>
          <c:idx val="4"/>
          <c:order val="4"/>
          <c:tx>
            <c:v>+ Tariff reform</c:v>
          </c:tx>
          <c:spPr>
            <a:solidFill>
              <a:srgbClr val="B2E1E3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15</c:v>
              </c:pt>
              <c:pt idx="2">
                <c:v>38</c:v>
              </c:pt>
              <c:pt idx="3">
                <c:v>61</c:v>
              </c:pt>
            </c:numLit>
          </c:val>
          <c:extLst>
            <c:ext xmlns:c16="http://schemas.microsoft.com/office/drawing/2014/chart" uri="{C3380CC4-5D6E-409C-BE32-E72D297353CC}">
              <c16:uniqueId val="{00000004-7468-4C27-9ADC-32B56CFB7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"/>
        <c:axId val="222"/>
      </c:areaChart>
      <c:lineChart>
        <c:grouping val="standard"/>
        <c:varyColors val="0"/>
        <c:ser>
          <c:idx val="5"/>
          <c:order val="5"/>
          <c:tx>
            <c:v>Total HHs (100% target)</c:v>
          </c:tx>
          <c:spPr>
            <a:ln w="25400">
              <a:solidFill>
                <a:srgbClr val="0E2841"/>
              </a:solidFill>
              <a:prstDash val="dash"/>
            </a:ln>
          </c:spPr>
          <c:marker>
            <c:symbol val="none"/>
          </c:marke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900</c:v>
              </c:pt>
              <c:pt idx="1">
                <c:v>1050</c:v>
              </c:pt>
              <c:pt idx="2">
                <c:v>1250</c:v>
              </c:pt>
              <c:pt idx="3">
                <c:v>1483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7468-4C27-9ADC-32B56CFB7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"/>
        <c:axId val="222"/>
      </c:line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0"/>
        <c:axPos val="l"/>
        <c:title>
          <c:tx>
            <c:rich>
              <a:bodyPr rot="-5400000" vert="horz" anchor="ctr" anchorCtr="1"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r>
                  <a:rPr lang="en-US"/>
                  <a:t>HHs with safely managed water ('000)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1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Open Sans"/>
            </a:defRPr>
          </a:pPr>
          <a:endParaRPr lang="en-US"/>
        </a:p>
      </c:txPr>
    </c:legend>
    <c:plotVisOnly val="1"/>
    <c:dispBlanksAs val="gap"/>
    <c:showDLblsOverMax val="1"/>
  </c:char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Covered under BAU</c:v>
          </c:tx>
          <c:spPr>
            <a:solidFill>
              <a:srgbClr val="195B80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Open San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[baseline year]</c:v>
              </c:pt>
              <c:pt idx="1">
                <c:v>[first target year]</c:v>
              </c:pt>
              <c:pt idx="2">
                <c:v>[last target year]</c:v>
              </c:pt>
            </c:strLit>
          </c:cat>
          <c:val>
            <c:numLit>
              <c:formatCode>General</c:formatCode>
              <c:ptCount val="3"/>
              <c:pt idx="0">
                <c:v>480</c:v>
              </c:pt>
              <c:pt idx="1">
                <c:v>620</c:v>
              </c:pt>
              <c:pt idx="2">
                <c:v>800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3CE-4BD8-A0CF-2514C84FE820}"/>
            </c:ext>
          </c:extLst>
        </c:ser>
        <c:ser>
          <c:idx val="1"/>
          <c:order val="1"/>
          <c:tx>
            <c:v>Service gap to target</c:v>
          </c:tx>
          <c:spPr>
            <a:solidFill>
              <a:srgbClr val="B2E1E3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[baseline year]</c:v>
              </c:pt>
              <c:pt idx="1">
                <c:v>[first target year]</c:v>
              </c:pt>
              <c:pt idx="2">
                <c:v>[last target year]</c:v>
              </c:pt>
            </c:strLit>
          </c:cat>
          <c:val>
            <c:numLit>
              <c:formatCode>General</c:formatCode>
              <c:ptCount val="3"/>
              <c:pt idx="0">
                <c:v>0</c:v>
              </c:pt>
              <c:pt idx="1">
                <c:v>430</c:v>
              </c:pt>
              <c:pt idx="2">
                <c:v>683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83CE-4BD8-A0CF-2514C84FE8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11"/>
        <c:axId val="322"/>
      </c:barChart>
      <c:catAx>
        <c:axId val="3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322"/>
        <c:crosses val="autoZero"/>
        <c:auto val="1"/>
        <c:lblAlgn val="ctr"/>
        <c:lblOffset val="100"/>
        <c:noMultiLvlLbl val="1"/>
      </c:catAx>
      <c:valAx>
        <c:axId val="322"/>
        <c:scaling>
          <c:orientation val="minMax"/>
        </c:scaling>
        <c:delete val="0"/>
        <c:axPos val="l"/>
        <c:title>
          <c:tx>
            <c:rich>
              <a:bodyPr rot="-5400000" vert="horz" anchor="ctr" anchorCtr="1"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r>
                  <a:rPr lang="en-US"/>
                  <a:t>HHs with safely managed sanitation ('000)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3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latin typeface="Open Sans"/>
            </a:defRPr>
          </a:pPr>
          <a:endParaRPr lang="en-US"/>
        </a:p>
      </c:txPr>
    </c:legend>
    <c:plotVisOnly val="1"/>
    <c:dispBlanksAs val="gap"/>
    <c:showDLblsOverMax val="1"/>
  </c:char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areaChart>
        <c:grouping val="stacked"/>
        <c:varyColors val="0"/>
        <c:ser>
          <c:idx val="0"/>
          <c:order val="0"/>
          <c:tx>
            <c:v>BAU coverage</c:v>
          </c:tx>
          <c:spPr>
            <a:solidFill>
              <a:srgbClr val="195B80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480</c:v>
              </c:pt>
              <c:pt idx="1">
                <c:v>560</c:v>
              </c:pt>
              <c:pt idx="2">
                <c:v>680</c:v>
              </c:pt>
              <c:pt idx="3">
                <c:v>800</c:v>
              </c:pt>
            </c:numLit>
          </c:val>
          <c:extLst>
            <c:ext xmlns:c16="http://schemas.microsoft.com/office/drawing/2014/chart" uri="{C3380CC4-5D6E-409C-BE32-E72D297353CC}">
              <c16:uniqueId val="{00000000-7468-4C27-9ADC-32B56CFB73BF}"/>
            </c:ext>
          </c:extLst>
        </c:ser>
        <c:ser>
          <c:idx val="1"/>
          <c:order val="1"/>
          <c:tx>
            <c:v>+ Increased collection efficiency</c:v>
          </c:tx>
          <c:spPr>
            <a:solidFill>
              <a:srgbClr val="009CA7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60</c:v>
              </c:pt>
              <c:pt idx="2">
                <c:v>180</c:v>
              </c:pt>
              <c:pt idx="3">
                <c:v>339</c:v>
              </c:pt>
            </c:numLit>
          </c:val>
          <c:extLst>
            <c:ext xmlns:c16="http://schemas.microsoft.com/office/drawing/2014/chart" uri="{C3380CC4-5D6E-409C-BE32-E72D297353CC}">
              <c16:uniqueId val="{00000001-7468-4C27-9ADC-32B56CFB73BF}"/>
            </c:ext>
          </c:extLst>
        </c:ser>
        <c:ser>
          <c:idx val="2"/>
          <c:order val="2"/>
          <c:tx>
            <c:v>+ Budget execution improvement</c:v>
          </c:tx>
          <c:spPr>
            <a:solidFill>
              <a:srgbClr val="4CBAC1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40</c:v>
              </c:pt>
              <c:pt idx="2">
                <c:v>110</c:v>
              </c:pt>
              <c:pt idx="3">
                <c:v>192</c:v>
              </c:pt>
            </c:numLit>
          </c:val>
          <c:extLst>
            <c:ext xmlns:c16="http://schemas.microsoft.com/office/drawing/2014/chart" uri="{C3380CC4-5D6E-409C-BE32-E72D297353CC}">
              <c16:uniqueId val="{00000002-7468-4C27-9ADC-32B56CFB73BF}"/>
            </c:ext>
          </c:extLst>
        </c:ser>
        <c:ser>
          <c:idx val="3"/>
          <c:order val="3"/>
          <c:tx>
            <c:v>+ Tariff reform</c:v>
          </c:tx>
          <c:spPr>
            <a:solidFill>
              <a:srgbClr val="80A3B8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20</c:v>
              </c:pt>
              <c:pt idx="2">
                <c:v>55</c:v>
              </c:pt>
              <c:pt idx="3">
                <c:v>91</c:v>
              </c:pt>
            </c:numLit>
          </c:val>
          <c:extLst>
            <c:ext xmlns:c16="http://schemas.microsoft.com/office/drawing/2014/chart" uri="{C3380CC4-5D6E-409C-BE32-E72D297353CC}">
              <c16:uniqueId val="{00000003-7468-4C27-9ADC-32B56CFB73BF}"/>
            </c:ext>
          </c:extLst>
        </c:ser>
        <c:ser>
          <c:idx val="4"/>
          <c:order val="4"/>
          <c:tx>
            <c:v>+ Microfinance</c:v>
          </c:tx>
          <c:spPr>
            <a:solidFill>
              <a:srgbClr val="B2E1E3"/>
            </a:solidFill>
            <a:ln w="9525">
              <a:solidFill>
                <a:srgbClr val="FFFFFF"/>
              </a:solidFill>
            </a:ln>
          </c:spP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15</c:v>
              </c:pt>
              <c:pt idx="2">
                <c:v>38</c:v>
              </c:pt>
              <c:pt idx="3">
                <c:v>61</c:v>
              </c:pt>
            </c:numLit>
          </c:val>
          <c:extLst>
            <c:ext xmlns:c16="http://schemas.microsoft.com/office/drawing/2014/chart" uri="{C3380CC4-5D6E-409C-BE32-E72D297353CC}">
              <c16:uniqueId val="{00000004-7468-4C27-9ADC-32B56CFB7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"/>
        <c:axId val="222"/>
      </c:areaChart>
      <c:lineChart>
        <c:grouping val="standard"/>
        <c:varyColors val="0"/>
        <c:ser>
          <c:idx val="5"/>
          <c:order val="5"/>
          <c:tx>
            <c:v>Total HHs (100% target)</c:v>
          </c:tx>
          <c:spPr>
            <a:ln w="25400">
              <a:solidFill>
                <a:srgbClr val="0E2841"/>
              </a:solidFill>
              <a:prstDash val="dash"/>
            </a:ln>
          </c:spPr>
          <c:marker>
            <c:symbol val="none"/>
          </c:marker>
          <c:cat>
            <c:strLit>
              <c:ptCount val="4"/>
              <c:pt idx="0">
                <c:v>[baseline year]</c:v>
              </c:pt>
              <c:pt idx="1">
                <c:v>[+5 years]</c:v>
              </c:pt>
              <c:pt idx="2">
                <c:v>[+10 years]</c:v>
              </c:pt>
              <c:pt idx="3">
                <c:v>[end year]</c:v>
              </c:pt>
            </c:strLit>
          </c:cat>
          <c:val>
            <c:numLit>
              <c:formatCode>General</c:formatCode>
              <c:ptCount val="4"/>
              <c:pt idx="0">
                <c:v>900</c:v>
              </c:pt>
              <c:pt idx="1">
                <c:v>1050</c:v>
              </c:pt>
              <c:pt idx="2">
                <c:v>1250</c:v>
              </c:pt>
              <c:pt idx="3">
                <c:v>1483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7468-4C27-9ADC-32B56CFB7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"/>
        <c:axId val="222"/>
      </c:line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0"/>
        <c:axPos val="l"/>
        <c:title>
          <c:tx>
            <c:rich>
              <a:bodyPr rot="-5400000" vert="horz" anchor="ctr" anchorCtr="1"/>
              <a:lstStyle/>
              <a:p>
                <a:pPr>
                  <a:defRPr sz="1200" b="1">
                    <a:solidFill>
                      <a:srgbClr val="195B80"/>
                    </a:solidFill>
                    <a:latin typeface="Open Sans"/>
                  </a:defRPr>
                </a:pPr>
                <a:r>
                  <a:rPr lang="en-US"/>
                  <a:t>HHs with safely managed sanitation ('000)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Open Sans"/>
              </a:defRPr>
            </a:pPr>
            <a:endParaRPr lang="en-US"/>
          </a:p>
        </c:txPr>
        <c:crossAx val="11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Open Sans"/>
            </a:defRPr>
          </a:pPr>
          <a:endParaRPr lang="en-US"/>
        </a:p>
      </c:txPr>
    </c:legend>
    <c:plotVisOnly val="1"/>
    <c:dispBlanksAs val="gap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060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B12-41E4-7C95-ACB4-2D8C778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076B-4D98-A3EC-DC2E-A01CB96C0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D3014-513A-7211-8F16-900DA1EC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2AFA-81E4-165E-4A80-14D379220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29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1" y="1331085"/>
            <a:ext cx="8428383" cy="2387600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3820699"/>
            <a:ext cx="8428383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217B24-E6D3-4178-BD77-13CEE2716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2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5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1" y="1331085"/>
            <a:ext cx="8428383" cy="2387600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3820699"/>
            <a:ext cx="8428383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842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circle&#10;&#10;Description automatically generated">
            <a:extLst>
              <a:ext uri="{FF2B5EF4-FFF2-40B4-BE49-F238E27FC236}">
                <a16:creationId xmlns:a16="http://schemas.microsoft.com/office/drawing/2014/main" id="{95E276FC-BFBE-0813-774C-F7F1F9DD65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733184" cy="68661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5679" y="2266677"/>
            <a:ext cx="6225209" cy="1581772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5680" y="3970960"/>
            <a:ext cx="6477000" cy="50689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286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circle&#10;&#10;Description automatically generated">
            <a:extLst>
              <a:ext uri="{FF2B5EF4-FFF2-40B4-BE49-F238E27FC236}">
                <a16:creationId xmlns:a16="http://schemas.microsoft.com/office/drawing/2014/main" id="{95E276FC-BFBE-0813-774C-F7F1F9DD65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733184" cy="68661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5679" y="2266677"/>
            <a:ext cx="6225209" cy="1581772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5680" y="3970960"/>
            <a:ext cx="6477000" cy="50689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3991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circle&#10;&#10;Description automatically generated">
            <a:extLst>
              <a:ext uri="{FF2B5EF4-FFF2-40B4-BE49-F238E27FC236}">
                <a16:creationId xmlns:a16="http://schemas.microsoft.com/office/drawing/2014/main" id="{95E276FC-BFBE-0813-774C-F7F1F9DD65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733184" cy="68661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5679" y="2266677"/>
            <a:ext cx="6225209" cy="1581772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5680" y="3970960"/>
            <a:ext cx="6477000" cy="50689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9499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_Content with Captio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724E28-4341-6AC5-28DD-F5C41E712D7E}"/>
              </a:ext>
            </a:extLst>
          </p:cNvPr>
          <p:cNvSpPr/>
          <p:nvPr/>
        </p:nvSpPr>
        <p:spPr>
          <a:xfrm>
            <a:off x="5183187" y="0"/>
            <a:ext cx="700881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4500" y="995364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3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93780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5_Content with Captio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724E28-4341-6AC5-28DD-F5C41E712D7E}"/>
              </a:ext>
            </a:extLst>
          </p:cNvPr>
          <p:cNvSpPr/>
          <p:nvPr/>
        </p:nvSpPr>
        <p:spPr>
          <a:xfrm>
            <a:off x="5183187" y="0"/>
            <a:ext cx="700881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4500" y="995364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6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1" y="1331085"/>
            <a:ext cx="8428383" cy="2387600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3820699"/>
            <a:ext cx="8428383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4322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4051816"/>
            <a:ext cx="8428383" cy="1581772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5722592"/>
            <a:ext cx="8428383" cy="50689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49EC4A8-5A86-BA72-3A81-7C1A13758C52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2"/>
            <a:ext cx="12192000" cy="3924953"/>
          </a:xfrm>
          <a:solidFill>
            <a:schemeClr val="bg2"/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97692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49EC4A8-5A86-BA72-3A81-7C1A13758C52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1"/>
            <a:ext cx="12192000" cy="6857999"/>
          </a:xfrm>
          <a:solidFill>
            <a:schemeClr val="bg2"/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Picture 7" descr="A black and white circle&#10;&#10;Description automatically generated">
            <a:extLst>
              <a:ext uri="{FF2B5EF4-FFF2-40B4-BE49-F238E27FC236}">
                <a16:creationId xmlns:a16="http://schemas.microsoft.com/office/drawing/2014/main" id="{95E276FC-BFBE-0813-774C-F7F1F9DD655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733184" cy="68661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5679" y="2266677"/>
            <a:ext cx="6225209" cy="1581772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5680" y="3970960"/>
            <a:ext cx="6477000" cy="50689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899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7">
            <a:extLst>
              <a:ext uri="{FF2B5EF4-FFF2-40B4-BE49-F238E27FC236}">
                <a16:creationId xmlns:a16="http://schemas.microsoft.com/office/drawing/2014/main" id="{D0E78E1E-B91C-1D6A-620D-A932CD7253E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01291" y="0"/>
            <a:ext cx="8675868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E276FC-BFBE-0813-774C-F7F1F9DD65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733184" cy="68661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5679" y="2266677"/>
            <a:ext cx="6225209" cy="1581772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5680" y="3970960"/>
            <a:ext cx="6477000" cy="50689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00375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49EC4A8-5A86-BA72-3A81-7C1A13758C52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1"/>
            <a:ext cx="12192000" cy="6857999"/>
          </a:xfrm>
          <a:solidFill>
            <a:schemeClr val="bg2"/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E276FC-BFBE-0813-774C-F7F1F9DD655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733184" cy="68661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5679" y="2266677"/>
            <a:ext cx="6225209" cy="1581772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5680" y="3970960"/>
            <a:ext cx="6477000" cy="50689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51840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circle&#10;&#10;Description automatically generated">
            <a:extLst>
              <a:ext uri="{FF2B5EF4-FFF2-40B4-BE49-F238E27FC236}">
                <a16:creationId xmlns:a16="http://schemas.microsoft.com/office/drawing/2014/main" id="{95E276FC-BFBE-0813-774C-F7F1F9DD65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733184" cy="68661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5679" y="2266677"/>
            <a:ext cx="6225209" cy="1581772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5680" y="3970960"/>
            <a:ext cx="6477000" cy="50689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6937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circle&#10;&#10;Description automatically generated">
            <a:extLst>
              <a:ext uri="{FF2B5EF4-FFF2-40B4-BE49-F238E27FC236}">
                <a16:creationId xmlns:a16="http://schemas.microsoft.com/office/drawing/2014/main" id="{95E276FC-BFBE-0813-774C-F7F1F9DD65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733184" cy="68661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5679" y="2266677"/>
            <a:ext cx="6225209" cy="1581772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5680" y="3970960"/>
            <a:ext cx="6477000" cy="50689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0400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5E276FC-BFBE-0813-774C-F7F1F9DD65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733184" cy="68661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5679" y="2266677"/>
            <a:ext cx="6225209" cy="1581772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5680" y="3970960"/>
            <a:ext cx="6477000" cy="50689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112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8365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5211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2764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80718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7622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5054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Title and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22577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Title and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0819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0" y="3044515"/>
            <a:ext cx="5549347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96E3F4-3724-8C41-8980-D3A49EAB798B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Annotated Diagnostic Template Outline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2445175-CE09-124E-73BB-00C09AB20D7F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-1" y="1"/>
            <a:ext cx="5870713" cy="6857999"/>
          </a:xfrm>
          <a:solidFill>
            <a:schemeClr val="bg2"/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0782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0" y="3044515"/>
            <a:ext cx="5549347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716A82-B9A7-E34C-B7E6-A6EAC111CACC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Annotated Diagnostic Template Outline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2445175-CE09-124E-73BB-00C09AB20D7F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-1" y="1"/>
            <a:ext cx="5870713" cy="6857999"/>
          </a:xfrm>
          <a:solidFill>
            <a:schemeClr val="bg2"/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57547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0" y="3044515"/>
            <a:ext cx="5549347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96E3F4-3724-8C41-8980-D3A49EAB798B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Annotated Diagnostic Template Outline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2445175-CE09-124E-73BB-00C09AB20D7F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-1" y="1"/>
            <a:ext cx="5870713" cy="6857999"/>
          </a:xfrm>
          <a:solidFill>
            <a:schemeClr val="bg2"/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4517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0" y="3044515"/>
            <a:ext cx="5549347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716A82-B9A7-E34C-B7E6-A6EAC111CACC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Annotated Diagnostic Template Outline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2445175-CE09-124E-73BB-00C09AB20D7F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-1" y="1"/>
            <a:ext cx="5870713" cy="6857999"/>
          </a:xfrm>
          <a:solidFill>
            <a:schemeClr val="bg2"/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137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49EC4A8-5A86-BA72-3A81-7C1A13758C52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2"/>
            <a:ext cx="12192000" cy="4377907"/>
          </a:xfrm>
          <a:solidFill>
            <a:schemeClr val="bg2"/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7479E2A-7287-ED68-CA55-0336E6EE1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148" y="4704349"/>
            <a:ext cx="5549347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4431977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4051816"/>
            <a:ext cx="8428383" cy="1581772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5722592"/>
            <a:ext cx="8428383" cy="50689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49EC4A8-5A86-BA72-3A81-7C1A13758C52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2"/>
            <a:ext cx="12192000" cy="3924953"/>
          </a:xfrm>
          <a:solidFill>
            <a:schemeClr val="bg2"/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1821231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49EC4A8-5A86-BA72-3A81-7C1A13758C52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2"/>
            <a:ext cx="12192000" cy="4377907"/>
          </a:xfrm>
          <a:solidFill>
            <a:schemeClr val="bg2"/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7479E2A-7287-ED68-CA55-0336E6EE1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148" y="4704349"/>
            <a:ext cx="5549347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2823922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045" y="3319117"/>
            <a:ext cx="5449956" cy="796235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E8747C9-A381-DA9D-7979-B8BBF5894DD3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6321288" y="1"/>
            <a:ext cx="5870713" cy="6857999"/>
          </a:xfrm>
          <a:solidFill>
            <a:schemeClr val="bg2"/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10843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83E6B35-58B0-ED25-0821-133CAE9694C7}"/>
              </a:ext>
            </a:extLst>
          </p:cNvPr>
          <p:cNvSpPr/>
          <p:nvPr/>
        </p:nvSpPr>
        <p:spPr>
          <a:xfrm>
            <a:off x="0" y="1"/>
            <a:ext cx="12192000" cy="1329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1140"/>
            <a:ext cx="10515600" cy="671822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94102"/>
            <a:ext cx="5181600" cy="4616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94102"/>
            <a:ext cx="5181600" cy="4616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80405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83E6B35-58B0-ED25-0821-133CAE9694C7}"/>
              </a:ext>
            </a:extLst>
          </p:cNvPr>
          <p:cNvSpPr/>
          <p:nvPr/>
        </p:nvSpPr>
        <p:spPr>
          <a:xfrm>
            <a:off x="0" y="1"/>
            <a:ext cx="12192000" cy="132917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1140"/>
            <a:ext cx="10515600" cy="671822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94102"/>
            <a:ext cx="5181600" cy="4616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94102"/>
            <a:ext cx="5181600" cy="4616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53777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93076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1153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266671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83E6B35-58B0-ED25-0821-133CAE9694C7}"/>
              </a:ext>
            </a:extLst>
          </p:cNvPr>
          <p:cNvSpPr/>
          <p:nvPr/>
        </p:nvSpPr>
        <p:spPr>
          <a:xfrm>
            <a:off x="0" y="1"/>
            <a:ext cx="12192000" cy="1329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1140"/>
            <a:ext cx="10515600" cy="671822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71989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83E6B35-58B0-ED25-0821-133CAE9694C7}"/>
              </a:ext>
            </a:extLst>
          </p:cNvPr>
          <p:cNvSpPr/>
          <p:nvPr/>
        </p:nvSpPr>
        <p:spPr>
          <a:xfrm>
            <a:off x="0" y="2"/>
            <a:ext cx="12192000" cy="9429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1140"/>
            <a:ext cx="10515600" cy="671822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50494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wo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83E6B35-58B0-ED25-0821-133CAE9694C7}"/>
              </a:ext>
            </a:extLst>
          </p:cNvPr>
          <p:cNvSpPr/>
          <p:nvPr/>
        </p:nvSpPr>
        <p:spPr>
          <a:xfrm>
            <a:off x="0" y="1"/>
            <a:ext cx="12192000" cy="132917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3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1140"/>
            <a:ext cx="10515600" cy="671822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69729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8887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724E28-4341-6AC5-28DD-F5C41E712D7E}"/>
              </a:ext>
            </a:extLst>
          </p:cNvPr>
          <p:cNvSpPr/>
          <p:nvPr/>
        </p:nvSpPr>
        <p:spPr>
          <a:xfrm>
            <a:off x="5183187" y="0"/>
            <a:ext cx="700881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4500" y="995364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3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92343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724E28-4341-6AC5-28DD-F5C41E712D7E}"/>
              </a:ext>
            </a:extLst>
          </p:cNvPr>
          <p:cNvSpPr/>
          <p:nvPr/>
        </p:nvSpPr>
        <p:spPr>
          <a:xfrm>
            <a:off x="5183187" y="0"/>
            <a:ext cx="700881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4500" y="995364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65337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_Content with Captio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724E28-4341-6AC5-28DD-F5C41E712D7E}"/>
              </a:ext>
            </a:extLst>
          </p:cNvPr>
          <p:cNvSpPr/>
          <p:nvPr/>
        </p:nvSpPr>
        <p:spPr>
          <a:xfrm>
            <a:off x="5183187" y="0"/>
            <a:ext cx="700881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4500" y="995364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221767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4325" y="6525419"/>
            <a:ext cx="257175" cy="19198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50">
                <a:solidFill>
                  <a:srgbClr val="000000"/>
                </a:solidFill>
                <a:latin typeface="Andes Light"/>
                <a:ea typeface="Andes Light"/>
                <a:cs typeface="Andes Light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6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4E11CD-A20A-5A91-207F-40ECFB6290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10925" y="6642100"/>
            <a:ext cx="942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648716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  <p:sldLayoutId id="2147483708" r:id="rId31"/>
    <p:sldLayoutId id="2147483709" r:id="rId32"/>
    <p:sldLayoutId id="2147483710" r:id="rId33"/>
    <p:sldLayoutId id="2147483711" r:id="rId34"/>
    <p:sldLayoutId id="2147483712" r:id="rId35"/>
    <p:sldLayoutId id="2147483713" r:id="rId36"/>
    <p:sldLayoutId id="2147483714" r:id="rId37"/>
    <p:sldLayoutId id="2147483715" r:id="rId38"/>
    <p:sldLayoutId id="2147483716" r:id="rId39"/>
    <p:sldLayoutId id="2147483717" r:id="rId40"/>
    <p:sldLayoutId id="2147483718" r:id="rId41"/>
    <p:sldLayoutId id="2147483719" r:id="rId42"/>
    <p:sldLayoutId id="2147483720" r:id="rId43"/>
    <p:sldLayoutId id="2147483721" r:id="rId4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e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4.xml"/><Relationship Id="rId5" Type="http://schemas.openxmlformats.org/officeDocument/2006/relationships/chart" Target="../charts/chart1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4.xml"/><Relationship Id="rId5" Type="http://schemas.openxmlformats.org/officeDocument/2006/relationships/chart" Target="../charts/chart2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4.xml"/><Relationship Id="rId5" Type="http://schemas.openxmlformats.org/officeDocument/2006/relationships/chart" Target="../charts/chart3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4.xml"/><Relationship Id="rId5" Type="http://schemas.openxmlformats.org/officeDocument/2006/relationships/chart" Target="../charts/chart4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4.xml"/><Relationship Id="rId5" Type="http://schemas.openxmlformats.org/officeDocument/2006/relationships/chart" Target="../charts/chart5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4.xml"/><Relationship Id="rId5" Type="http://schemas.openxmlformats.org/officeDocument/2006/relationships/chart" Target="../charts/chart6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4.xml"/><Relationship Id="rId5" Type="http://schemas.openxmlformats.org/officeDocument/2006/relationships/chart" Target="../charts/chart7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4.xml"/><Relationship Id="rId5" Type="http://schemas.openxmlformats.org/officeDocument/2006/relationships/chart" Target="../charts/chart8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4.xml"/><Relationship Id="rId5" Type="http://schemas.openxmlformats.org/officeDocument/2006/relationships/chart" Target="../charts/chart9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4.xml"/><Relationship Id="rId5" Type="http://schemas.openxmlformats.org/officeDocument/2006/relationships/chart" Target="../charts/chart10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4.xml"/><Relationship Id="rId5" Type="http://schemas.openxmlformats.org/officeDocument/2006/relationships/chart" Target="../charts/chart11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4.xml"/><Relationship Id="rId5" Type="http://schemas.openxmlformats.org/officeDocument/2006/relationships/chart" Target="../charts/chart12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4.xml"/><Relationship Id="rId5" Type="http://schemas.openxmlformats.org/officeDocument/2006/relationships/chart" Target="../charts/chart13.xml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FD87F2-F860-ABE4-3EEA-2F5B8AD8A12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05881" y="0"/>
            <a:ext cx="8386119" cy="6858000"/>
          </a:xfrm>
          <a:prstGeom prst="rect">
            <a:avLst/>
          </a:prstGeom>
        </p:spPr>
      </p:pic>
      <p:pic>
        <p:nvPicPr>
          <p:cNvPr id="2" name="Picture 1" descr="A black and white circle&#10;&#10;AI-generated content may be incorrect.">
            <a:extLst>
              <a:ext uri="{FF2B5EF4-FFF2-40B4-BE49-F238E27FC236}">
                <a16:creationId xmlns:a16="http://schemas.microsoft.com/office/drawing/2014/main" id="{1D572E1B-127A-E01E-5E81-4A43BB47FE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506" r="-42"/>
          <a:stretch>
            <a:fillRect/>
          </a:stretch>
        </p:blipFill>
        <p:spPr>
          <a:xfrm>
            <a:off x="-5148" y="0"/>
            <a:ext cx="11038223" cy="6858000"/>
          </a:xfrm>
          <a:prstGeom prst="rect">
            <a:avLst/>
          </a:prstGeom>
        </p:spPr>
      </p:pic>
      <p:pic>
        <p:nvPicPr>
          <p:cNvPr id="9" name="Picture 8" descr="A blue text on a white background&#10;&#10;AI-generated content may be incorrect.">
            <a:extLst>
              <a:ext uri="{FF2B5EF4-FFF2-40B4-BE49-F238E27FC236}">
                <a16:creationId xmlns:a16="http://schemas.microsoft.com/office/drawing/2014/main" id="{78540AEC-4C32-6793-201A-D9E66D266D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46" y="5717838"/>
            <a:ext cx="1877960" cy="369332"/>
          </a:xfrm>
          <a:prstGeom prst="rect">
            <a:avLst/>
          </a:prstGeom>
        </p:spPr>
      </p:pic>
      <p:pic>
        <p:nvPicPr>
          <p:cNvPr id="8" name="Picture 7" descr="A logo for a company&#10;&#10;AI-generated content may be incorrect.">
            <a:extLst>
              <a:ext uri="{FF2B5EF4-FFF2-40B4-BE49-F238E27FC236}">
                <a16:creationId xmlns:a16="http://schemas.microsoft.com/office/drawing/2014/main" id="{068FF011-C6AE-128B-3FCF-85B3EB67BDE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9880" y="5433528"/>
            <a:ext cx="1319244" cy="742498"/>
          </a:xfrm>
          <a:prstGeom prst="rect">
            <a:avLst/>
          </a:prstGeom>
        </p:spPr>
      </p:pic>
      <p:pic>
        <p:nvPicPr>
          <p:cNvPr id="10" name="Picture 9" descr="A logo for a company&#10;&#10;AI-generated content may be incorrect.">
            <a:extLst>
              <a:ext uri="{FF2B5EF4-FFF2-40B4-BE49-F238E27FC236}">
                <a16:creationId xmlns:a16="http://schemas.microsoft.com/office/drawing/2014/main" id="{4C65AC05-2411-3181-F69D-A66FE9EDBE0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23922" y="5447850"/>
            <a:ext cx="705960" cy="7424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F001A6-0630-F3F4-8088-DB30AD8408F5}"/>
              </a:ext>
            </a:extLst>
          </p:cNvPr>
          <p:cNvSpPr txBox="1"/>
          <p:nvPr/>
        </p:nvSpPr>
        <p:spPr>
          <a:xfrm>
            <a:off x="556398" y="3697041"/>
            <a:ext cx="4373484" cy="16619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004B76"/>
                </a:solidFill>
                <a:latin typeface="Open Sans"/>
                <a:ea typeface="Open Sans"/>
                <a:cs typeface="Open Sans"/>
              </a:rPr>
              <a:t>WATER SUPPLY AND SANITATION STRATEGIC SCENARIOS</a:t>
            </a:r>
          </a:p>
          <a:p>
            <a:pPr>
              <a:buNone/>
            </a:pPr>
            <a:r>
              <a:rPr lang="en-US" sz="1800" b="0" dirty="0">
                <a:solidFill>
                  <a:srgbClr val="009CA7"/>
                </a:solidFill>
                <a:latin typeface="Open Sans"/>
                <a:ea typeface="Open Sans"/>
                <a:cs typeface="Open Sans"/>
              </a:rPr>
              <a:t>[Country] | [Baseline year]–[End year]</a:t>
            </a:r>
          </a:p>
        </p:txBody>
      </p:sp>
      <p:pic>
        <p:nvPicPr>
          <p:cNvPr id="7" name="Picture 6" descr="A blue text with white circles and a globe&#10;&#10;AI-generated content may be incorrect.">
            <a:extLst>
              <a:ext uri="{FF2B5EF4-FFF2-40B4-BE49-F238E27FC236}">
                <a16:creationId xmlns:a16="http://schemas.microsoft.com/office/drawing/2014/main" id="{36F7CDC7-0BD9-8834-A002-D69805DE2E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241" y="1029921"/>
            <a:ext cx="3661019" cy="246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5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Contents</a:t>
            </a: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601" name="C601"/>
          <p:cNvSpPr/>
          <p:nvPr/>
        </p:nvSpPr>
        <p:spPr>
          <a:xfrm>
            <a:off x="520700" y="1524000"/>
            <a:ext cx="11150600" cy="558800"/>
          </a:xfrm>
          <a:prstGeom prst="roundRect">
            <a:avLst>
              <a:gd name="adj" fmla="val 4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404040"/>
              </a:solidFill>
            </a:endParaRPr>
          </a:p>
        </p:txBody>
      </p:sp>
      <p:sp>
        <p:nvSpPr>
          <p:cNvPr id="602" name="T602"/>
          <p:cNvSpPr txBox="1"/>
          <p:nvPr/>
        </p:nvSpPr>
        <p:spPr>
          <a:xfrm>
            <a:off x="723900" y="1676400"/>
            <a:ext cx="8890000" cy="216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Executive summary</a:t>
            </a:r>
          </a:p>
        </p:txBody>
      </p:sp>
      <p:sp>
        <p:nvSpPr>
          <p:cNvPr id="603" name="T603"/>
          <p:cNvSpPr txBox="1"/>
          <p:nvPr/>
        </p:nvSpPr>
        <p:spPr>
          <a:xfrm>
            <a:off x="10160000" y="1676400"/>
            <a:ext cx="13335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Slide 3</a:t>
            </a:r>
          </a:p>
        </p:txBody>
      </p:sp>
      <p:sp>
        <p:nvSpPr>
          <p:cNvPr id="604" name="C604"/>
          <p:cNvSpPr/>
          <p:nvPr/>
        </p:nvSpPr>
        <p:spPr>
          <a:xfrm>
            <a:off x="520700" y="2235200"/>
            <a:ext cx="5461000" cy="812800"/>
          </a:xfrm>
          <a:prstGeom prst="roundRect">
            <a:avLst>
              <a:gd name="adj" fmla="val 4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404040"/>
              </a:solidFill>
            </a:endParaRPr>
          </a:p>
        </p:txBody>
      </p:sp>
      <p:sp>
        <p:nvSpPr>
          <p:cNvPr id="605" name="Chip605"/>
          <p:cNvSpPr/>
          <p:nvPr/>
        </p:nvSpPr>
        <p:spPr>
          <a:xfrm>
            <a:off x="698500" y="2438400"/>
            <a:ext cx="406400" cy="406400"/>
          </a:xfrm>
          <a:prstGeom prst="ellipse">
            <a:avLst/>
          </a:prstGeom>
          <a:solidFill>
            <a:srgbClr val="195B80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/>
                <a:cs typeface="Open Sans"/>
              </a:rPr>
              <a:t>1</a:t>
            </a:r>
          </a:p>
        </p:txBody>
      </p:sp>
      <p:sp>
        <p:nvSpPr>
          <p:cNvPr id="606" name="T606"/>
          <p:cNvSpPr txBox="1"/>
          <p:nvPr/>
        </p:nvSpPr>
        <p:spPr>
          <a:xfrm>
            <a:off x="1257300" y="251460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Methodology and definitions</a:t>
            </a:r>
          </a:p>
        </p:txBody>
      </p:sp>
      <p:sp>
        <p:nvSpPr>
          <p:cNvPr id="607" name="T607"/>
          <p:cNvSpPr txBox="1"/>
          <p:nvPr/>
        </p:nvSpPr>
        <p:spPr>
          <a:xfrm>
            <a:off x="4457700" y="2540000"/>
            <a:ext cx="13462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Slides 4–7</a:t>
            </a:r>
          </a:p>
        </p:txBody>
      </p:sp>
      <p:sp>
        <p:nvSpPr>
          <p:cNvPr id="609" name="C609"/>
          <p:cNvSpPr/>
          <p:nvPr/>
        </p:nvSpPr>
        <p:spPr>
          <a:xfrm>
            <a:off x="6210300" y="2235200"/>
            <a:ext cx="5461000" cy="812800"/>
          </a:xfrm>
          <a:prstGeom prst="roundRect">
            <a:avLst>
              <a:gd name="adj" fmla="val 4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404040"/>
              </a:solidFill>
            </a:endParaRPr>
          </a:p>
        </p:txBody>
      </p:sp>
      <p:sp>
        <p:nvSpPr>
          <p:cNvPr id="610" name="Chip610"/>
          <p:cNvSpPr/>
          <p:nvPr/>
        </p:nvSpPr>
        <p:spPr>
          <a:xfrm>
            <a:off x="6388100" y="2438400"/>
            <a:ext cx="406400" cy="406400"/>
          </a:xfrm>
          <a:prstGeom prst="ellipse">
            <a:avLst/>
          </a:prstGeom>
          <a:solidFill>
            <a:srgbClr val="195B80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/>
                <a:cs typeface="Open Sans"/>
              </a:rPr>
              <a:t>2</a:t>
            </a:r>
          </a:p>
        </p:txBody>
      </p:sp>
      <p:sp>
        <p:nvSpPr>
          <p:cNvPr id="611" name="T611"/>
          <p:cNvSpPr txBox="1"/>
          <p:nvPr/>
        </p:nvSpPr>
        <p:spPr>
          <a:xfrm>
            <a:off x="6946900" y="251460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Urban water</a:t>
            </a:r>
          </a:p>
        </p:txBody>
      </p:sp>
      <p:sp>
        <p:nvSpPr>
          <p:cNvPr id="612" name="T612"/>
          <p:cNvSpPr txBox="1"/>
          <p:nvPr/>
        </p:nvSpPr>
        <p:spPr>
          <a:xfrm>
            <a:off x="10147300" y="2540000"/>
            <a:ext cx="13462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Slides 8–13</a:t>
            </a:r>
          </a:p>
        </p:txBody>
      </p:sp>
      <p:sp>
        <p:nvSpPr>
          <p:cNvPr id="614" name="C614"/>
          <p:cNvSpPr/>
          <p:nvPr/>
        </p:nvSpPr>
        <p:spPr>
          <a:xfrm>
            <a:off x="520700" y="3200400"/>
            <a:ext cx="5461000" cy="812800"/>
          </a:xfrm>
          <a:prstGeom prst="roundRect">
            <a:avLst>
              <a:gd name="adj" fmla="val 4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404040"/>
              </a:solidFill>
            </a:endParaRPr>
          </a:p>
        </p:txBody>
      </p:sp>
      <p:sp>
        <p:nvSpPr>
          <p:cNvPr id="615" name="Chip615"/>
          <p:cNvSpPr/>
          <p:nvPr/>
        </p:nvSpPr>
        <p:spPr>
          <a:xfrm>
            <a:off x="698500" y="3403600"/>
            <a:ext cx="406400" cy="406400"/>
          </a:xfrm>
          <a:prstGeom prst="ellipse">
            <a:avLst/>
          </a:prstGeom>
          <a:solidFill>
            <a:srgbClr val="195B80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/>
                <a:cs typeface="Open Sans"/>
              </a:rPr>
              <a:t>3</a:t>
            </a:r>
          </a:p>
        </p:txBody>
      </p:sp>
      <p:sp>
        <p:nvSpPr>
          <p:cNvPr id="616" name="T616"/>
          <p:cNvSpPr txBox="1"/>
          <p:nvPr/>
        </p:nvSpPr>
        <p:spPr>
          <a:xfrm>
            <a:off x="1257300" y="347980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Rural water</a:t>
            </a:r>
          </a:p>
        </p:txBody>
      </p:sp>
      <p:sp>
        <p:nvSpPr>
          <p:cNvPr id="617" name="T617"/>
          <p:cNvSpPr txBox="1"/>
          <p:nvPr/>
        </p:nvSpPr>
        <p:spPr>
          <a:xfrm>
            <a:off x="4457700" y="3505200"/>
            <a:ext cx="13462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Slides 14–19</a:t>
            </a:r>
          </a:p>
        </p:txBody>
      </p:sp>
      <p:sp>
        <p:nvSpPr>
          <p:cNvPr id="619" name="C619"/>
          <p:cNvSpPr/>
          <p:nvPr/>
        </p:nvSpPr>
        <p:spPr>
          <a:xfrm>
            <a:off x="6210300" y="3200400"/>
            <a:ext cx="5461000" cy="812800"/>
          </a:xfrm>
          <a:prstGeom prst="roundRect">
            <a:avLst>
              <a:gd name="adj" fmla="val 4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404040"/>
              </a:solidFill>
            </a:endParaRPr>
          </a:p>
        </p:txBody>
      </p:sp>
      <p:sp>
        <p:nvSpPr>
          <p:cNvPr id="620" name="Chip620"/>
          <p:cNvSpPr/>
          <p:nvPr/>
        </p:nvSpPr>
        <p:spPr>
          <a:xfrm>
            <a:off x="6388100" y="3403600"/>
            <a:ext cx="406400" cy="406400"/>
          </a:xfrm>
          <a:prstGeom prst="ellipse">
            <a:avLst/>
          </a:prstGeom>
          <a:solidFill>
            <a:srgbClr val="195B80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/>
                <a:cs typeface="Open Sans"/>
              </a:rPr>
              <a:t>4</a:t>
            </a:r>
          </a:p>
        </p:txBody>
      </p:sp>
      <p:sp>
        <p:nvSpPr>
          <p:cNvPr id="621" name="T621"/>
          <p:cNvSpPr txBox="1"/>
          <p:nvPr/>
        </p:nvSpPr>
        <p:spPr>
          <a:xfrm>
            <a:off x="6946900" y="347980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Urban sanitation</a:t>
            </a:r>
          </a:p>
        </p:txBody>
      </p:sp>
      <p:sp>
        <p:nvSpPr>
          <p:cNvPr id="622" name="T622"/>
          <p:cNvSpPr txBox="1"/>
          <p:nvPr/>
        </p:nvSpPr>
        <p:spPr>
          <a:xfrm>
            <a:off x="10147300" y="3505200"/>
            <a:ext cx="13462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Slides 20–25</a:t>
            </a:r>
          </a:p>
        </p:txBody>
      </p:sp>
      <p:sp>
        <p:nvSpPr>
          <p:cNvPr id="624" name="C624"/>
          <p:cNvSpPr/>
          <p:nvPr/>
        </p:nvSpPr>
        <p:spPr>
          <a:xfrm>
            <a:off x="520700" y="4165600"/>
            <a:ext cx="5461000" cy="812800"/>
          </a:xfrm>
          <a:prstGeom prst="roundRect">
            <a:avLst>
              <a:gd name="adj" fmla="val 4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404040"/>
              </a:solidFill>
            </a:endParaRPr>
          </a:p>
        </p:txBody>
      </p:sp>
      <p:sp>
        <p:nvSpPr>
          <p:cNvPr id="625" name="Chip625"/>
          <p:cNvSpPr/>
          <p:nvPr/>
        </p:nvSpPr>
        <p:spPr>
          <a:xfrm>
            <a:off x="698500" y="4368800"/>
            <a:ext cx="406400" cy="406400"/>
          </a:xfrm>
          <a:prstGeom prst="ellipse">
            <a:avLst/>
          </a:prstGeom>
          <a:solidFill>
            <a:srgbClr val="195B80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/>
                <a:cs typeface="Open Sans"/>
              </a:rPr>
              <a:t>5</a:t>
            </a:r>
          </a:p>
        </p:txBody>
      </p:sp>
      <p:sp>
        <p:nvSpPr>
          <p:cNvPr id="626" name="T626"/>
          <p:cNvSpPr txBox="1"/>
          <p:nvPr/>
        </p:nvSpPr>
        <p:spPr>
          <a:xfrm>
            <a:off x="1257300" y="444500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Rural sanitation</a:t>
            </a:r>
          </a:p>
        </p:txBody>
      </p:sp>
      <p:sp>
        <p:nvSpPr>
          <p:cNvPr id="627" name="T627"/>
          <p:cNvSpPr txBox="1"/>
          <p:nvPr/>
        </p:nvSpPr>
        <p:spPr>
          <a:xfrm>
            <a:off x="4457700" y="4470400"/>
            <a:ext cx="13462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Slides 26–31</a:t>
            </a:r>
          </a:p>
        </p:txBody>
      </p:sp>
      <p:sp>
        <p:nvSpPr>
          <p:cNvPr id="629" name="C629"/>
          <p:cNvSpPr/>
          <p:nvPr/>
        </p:nvSpPr>
        <p:spPr>
          <a:xfrm>
            <a:off x="6210300" y="4165600"/>
            <a:ext cx="5461000" cy="812800"/>
          </a:xfrm>
          <a:prstGeom prst="roundRect">
            <a:avLst>
              <a:gd name="adj" fmla="val 4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404040"/>
              </a:solidFill>
            </a:endParaRPr>
          </a:p>
        </p:txBody>
      </p:sp>
      <p:sp>
        <p:nvSpPr>
          <p:cNvPr id="630" name="Chip630"/>
          <p:cNvSpPr/>
          <p:nvPr/>
        </p:nvSpPr>
        <p:spPr>
          <a:xfrm>
            <a:off x="6388100" y="4368800"/>
            <a:ext cx="406400" cy="406400"/>
          </a:xfrm>
          <a:prstGeom prst="ellipse">
            <a:avLst/>
          </a:prstGeom>
          <a:solidFill>
            <a:srgbClr val="195B80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/>
                <a:cs typeface="Open Sans"/>
              </a:rPr>
              <a:t>6</a:t>
            </a:r>
          </a:p>
        </p:txBody>
      </p:sp>
      <p:sp>
        <p:nvSpPr>
          <p:cNvPr id="631" name="T631"/>
          <p:cNvSpPr txBox="1"/>
          <p:nvPr/>
        </p:nvSpPr>
        <p:spPr>
          <a:xfrm>
            <a:off x="6946900" y="444500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National water</a:t>
            </a:r>
          </a:p>
        </p:txBody>
      </p:sp>
      <p:sp>
        <p:nvSpPr>
          <p:cNvPr id="632" name="T632"/>
          <p:cNvSpPr txBox="1"/>
          <p:nvPr/>
        </p:nvSpPr>
        <p:spPr>
          <a:xfrm>
            <a:off x="10147300" y="4470400"/>
            <a:ext cx="13462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Slides 32–37</a:t>
            </a:r>
          </a:p>
        </p:txBody>
      </p:sp>
      <p:sp>
        <p:nvSpPr>
          <p:cNvPr id="701" name="C701"/>
          <p:cNvSpPr/>
          <p:nvPr/>
        </p:nvSpPr>
        <p:spPr>
          <a:xfrm>
            <a:off x="520700" y="5130800"/>
            <a:ext cx="5461000" cy="812800"/>
          </a:xfrm>
          <a:prstGeom prst="roundRect">
            <a:avLst>
              <a:gd name="adj" fmla="val 4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404040"/>
              </a:solidFill>
            </a:endParaRPr>
          </a:p>
        </p:txBody>
      </p:sp>
      <p:sp>
        <p:nvSpPr>
          <p:cNvPr id="702" name="Chip702"/>
          <p:cNvSpPr/>
          <p:nvPr/>
        </p:nvSpPr>
        <p:spPr>
          <a:xfrm>
            <a:off x="698500" y="5334000"/>
            <a:ext cx="406400" cy="406400"/>
          </a:xfrm>
          <a:prstGeom prst="ellipse">
            <a:avLst/>
          </a:prstGeom>
          <a:solidFill>
            <a:srgbClr val="195B80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/>
                <a:cs typeface="Open Sans"/>
              </a:rPr>
              <a:t>7</a:t>
            </a:r>
          </a:p>
        </p:txBody>
      </p:sp>
      <p:sp>
        <p:nvSpPr>
          <p:cNvPr id="703" name="T703"/>
          <p:cNvSpPr txBox="1"/>
          <p:nvPr/>
        </p:nvSpPr>
        <p:spPr>
          <a:xfrm>
            <a:off x="1257300" y="541020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National sanitation</a:t>
            </a:r>
          </a:p>
        </p:txBody>
      </p:sp>
      <p:sp>
        <p:nvSpPr>
          <p:cNvPr id="704" name="T704"/>
          <p:cNvSpPr txBox="1"/>
          <p:nvPr/>
        </p:nvSpPr>
        <p:spPr>
          <a:xfrm>
            <a:off x="4457700" y="5435600"/>
            <a:ext cx="13462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Slides 38–43</a:t>
            </a:r>
          </a:p>
        </p:txBody>
      </p:sp>
      <p:sp>
        <p:nvSpPr>
          <p:cNvPr id="706" name="C706"/>
          <p:cNvSpPr/>
          <p:nvPr/>
        </p:nvSpPr>
        <p:spPr>
          <a:xfrm>
            <a:off x="6210300" y="5130800"/>
            <a:ext cx="5461000" cy="812800"/>
          </a:xfrm>
          <a:prstGeom prst="roundRect">
            <a:avLst>
              <a:gd name="adj" fmla="val 4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404040"/>
              </a:solidFill>
            </a:endParaRPr>
          </a:p>
        </p:txBody>
      </p:sp>
      <p:sp>
        <p:nvSpPr>
          <p:cNvPr id="707" name="Chip707"/>
          <p:cNvSpPr/>
          <p:nvPr/>
        </p:nvSpPr>
        <p:spPr>
          <a:xfrm>
            <a:off x="6388100" y="5334000"/>
            <a:ext cx="406400" cy="406400"/>
          </a:xfrm>
          <a:prstGeom prst="ellipse">
            <a:avLst/>
          </a:prstGeom>
          <a:solidFill>
            <a:srgbClr val="195B80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/>
                <a:cs typeface="Open Sans"/>
              </a:rPr>
              <a:t>§</a:t>
            </a:r>
          </a:p>
        </p:txBody>
      </p:sp>
      <p:sp>
        <p:nvSpPr>
          <p:cNvPr id="708" name="T708"/>
          <p:cNvSpPr txBox="1"/>
          <p:nvPr/>
        </p:nvSpPr>
        <p:spPr>
          <a:xfrm>
            <a:off x="6946900" y="541020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Appendices</a:t>
            </a:r>
          </a:p>
        </p:txBody>
      </p:sp>
      <p:sp>
        <p:nvSpPr>
          <p:cNvPr id="709" name="T709"/>
          <p:cNvSpPr txBox="1"/>
          <p:nvPr/>
        </p:nvSpPr>
        <p:spPr>
          <a:xfrm>
            <a:off x="10147300" y="5435600"/>
            <a:ext cx="13462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Slides 44–45</a:t>
            </a:r>
          </a:p>
        </p:txBody>
      </p:sp>
    </p:spTree>
    <p:extLst>
      <p:ext uri="{BB962C8B-B14F-4D97-AF65-F5344CB8AC3E}">
        <p14:creationId xmlns:p14="http://schemas.microsoft.com/office/powerpoint/2010/main" val="2961598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Executive summary</a:t>
            </a: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TextBox 501"/>
          <p:cNvSpPr txBox="1"/>
          <p:nvPr/>
        </p:nvSpPr>
        <p:spPr>
          <a:xfrm>
            <a:off x="520700" y="1524000"/>
            <a:ext cx="11150600" cy="66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[Country] aims for [target]% safely managed water and sanitation by [target year]. This analysis projects performance to [end year] under two scenarios: “business-as-usual,” where current trends continue, and “with interventions” in which action is taken to close the gaps.</a:t>
            </a:r>
          </a:p>
        </p:txBody>
      </p:sp>
      <p:graphicFrame>
        <p:nvGraphicFramePr>
          <p:cNvPr id="503" name="Table 5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176011"/>
              </p:ext>
            </p:extLst>
          </p:nvPr>
        </p:nvGraphicFramePr>
        <p:xfrm>
          <a:off x="520700" y="2286000"/>
          <a:ext cx="11150600" cy="2471216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7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Area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Sector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Current [baseline year]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(% HHs)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Target [last target year]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(% HHs)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BAU [last target year]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(% HHs)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With reforms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(% HHs)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Urban areas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Water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51%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100%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54%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100%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endParaRPr sz="2400"/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Sanitation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65%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100%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48%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70%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Rural areas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Water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36%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100%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69%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endParaRPr sz="2400"/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Sanitation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5%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100%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20%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National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Water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41%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100%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44%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79%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50523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endParaRPr sz="24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Sanitation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24%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100%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19%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36%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356003"/>
                  </a:ext>
                </a:extLst>
              </a:tr>
            </a:tbl>
          </a:graphicData>
        </a:graphic>
      </p:graphicFrame>
      <p:sp>
        <p:nvSpPr>
          <p:cNvPr id="504" name="Card 504"/>
          <p:cNvSpPr/>
          <p:nvPr/>
        </p:nvSpPr>
        <p:spPr>
          <a:xfrm>
            <a:off x="520700" y="4889500"/>
            <a:ext cx="5461000" cy="1270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5" name="TextBox 505"/>
          <p:cNvSpPr txBox="1"/>
          <p:nvPr/>
        </p:nvSpPr>
        <p:spPr>
          <a:xfrm>
            <a:off x="698500" y="5016500"/>
            <a:ext cx="5105400" cy="101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>
                <a:solidFill>
                  <a:srgbClr val="009CA7"/>
                </a:solidFill>
                <a:latin typeface="Open Sans"/>
                <a:cs typeface="Open Sans"/>
              </a:rPr>
              <a:t>Investment</a:t>
            </a:r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>
                <a:solidFill>
                  <a:srgbClr val="404040"/>
                </a:solidFill>
                <a:latin typeface="Open Sans"/>
                <a:cs typeface="Open Sans"/>
              </a:rPr>
              <a:t>BAU investment is expected to be [X] (US$[Y]b) between [1st forecast year] and [end year].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>
                <a:solidFill>
                  <a:srgbClr val="404040"/>
                </a:solidFill>
                <a:latin typeface="Open Sans"/>
                <a:cs typeface="Open Sans"/>
              </a:rPr>
              <a:t>Reaching [target] needs [number] — a gap of about [Z]x BAU.</a:t>
            </a:r>
          </a:p>
        </p:txBody>
      </p:sp>
      <p:sp>
        <p:nvSpPr>
          <p:cNvPr id="506" name="Card 506"/>
          <p:cNvSpPr/>
          <p:nvPr/>
        </p:nvSpPr>
        <p:spPr>
          <a:xfrm>
            <a:off x="6210300" y="4889500"/>
            <a:ext cx="5461000" cy="1270000"/>
          </a:xfrm>
          <a:prstGeom prst="roundRect">
            <a:avLst>
              <a:gd name="adj" fmla="val 4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7" name="TextBox 507"/>
          <p:cNvSpPr txBox="1"/>
          <p:nvPr/>
        </p:nvSpPr>
        <p:spPr>
          <a:xfrm>
            <a:off x="6388100" y="5016500"/>
            <a:ext cx="5105400" cy="101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Additional resources from reforms: [sum]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Increased collection efficiency </a:t>
            </a: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[X]b</a:t>
            </a:r>
            <a:r>
              <a:rPr lang="en-US" sz="1400" dirty="0">
                <a:solidFill>
                  <a:srgbClr val="B2B2B2"/>
                </a:solidFill>
                <a:latin typeface="Open Sans"/>
                <a:cs typeface="Open Sans"/>
              </a:rPr>
              <a:t> · </a:t>
            </a: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NRW reduction </a:t>
            </a: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[X]b</a:t>
            </a:r>
            <a:r>
              <a:rPr lang="en-US" sz="1400" dirty="0">
                <a:solidFill>
                  <a:srgbClr val="B2B2B2"/>
                </a:solidFill>
                <a:latin typeface="Open Sans"/>
                <a:cs typeface="Open Sans"/>
              </a:rPr>
              <a:t> · </a:t>
            </a: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Budget execution improvement </a:t>
            </a: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[X]b</a:t>
            </a:r>
            <a:r>
              <a:rPr lang="en-US" sz="1400" dirty="0">
                <a:solidFill>
                  <a:srgbClr val="B2B2B2"/>
                </a:solidFill>
                <a:latin typeface="Open Sans"/>
                <a:cs typeface="Open Sans"/>
              </a:rPr>
              <a:t> · </a:t>
            </a: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Capex efficiency (unit cost) </a:t>
            </a: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[X]b</a:t>
            </a:r>
            <a:r>
              <a:rPr lang="en-US" sz="1400" dirty="0">
                <a:solidFill>
                  <a:srgbClr val="B2B2B2"/>
                </a:solidFill>
                <a:latin typeface="Open Sans"/>
                <a:cs typeface="Open Sans"/>
              </a:rPr>
              <a:t> · </a:t>
            </a: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Optimized technology selection </a:t>
            </a: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[X]b</a:t>
            </a:r>
            <a:r>
              <a:rPr lang="en-US" sz="1400" dirty="0">
                <a:solidFill>
                  <a:srgbClr val="B2B2B2"/>
                </a:solidFill>
                <a:latin typeface="Open Sans"/>
                <a:cs typeface="Open Sans"/>
              </a:rPr>
              <a:t> · </a:t>
            </a: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Tariff reform </a:t>
            </a: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[X]b</a:t>
            </a:r>
            <a:r>
              <a:rPr lang="en-US" sz="1400" dirty="0">
                <a:solidFill>
                  <a:srgbClr val="B2B2B2"/>
                </a:solidFill>
                <a:latin typeface="Open Sans"/>
                <a:cs typeface="Open Sans"/>
              </a:rPr>
              <a:t> · </a:t>
            </a: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Microfinance </a:t>
            </a: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[X]b</a:t>
            </a:r>
          </a:p>
        </p:txBody>
      </p:sp>
      <p:sp>
        <p:nvSpPr>
          <p:cNvPr id="508" name="TextBox 508"/>
          <p:cNvSpPr txBox="1"/>
          <p:nvPr/>
        </p:nvSpPr>
        <p:spPr>
          <a:xfrm>
            <a:off x="12446000" y="1397000"/>
            <a:ext cx="381000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Prompt: figures are placeholders populated by the tool; percentages are shares of households.</a:t>
            </a:r>
          </a:p>
        </p:txBody>
      </p:sp>
    </p:spTree>
    <p:extLst>
      <p:ext uri="{BB962C8B-B14F-4D97-AF65-F5344CB8AC3E}">
        <p14:creationId xmlns:p14="http://schemas.microsoft.com/office/powerpoint/2010/main" val="3777669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Methodology, definitions, and household forecasts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C501"/>
          <p:cNvSpPr/>
          <p:nvPr/>
        </p:nvSpPr>
        <p:spPr>
          <a:xfrm>
            <a:off x="520700" y="1524000"/>
            <a:ext cx="11150600" cy="3810000"/>
          </a:xfrm>
          <a:prstGeom prst="roundRect">
            <a:avLst>
              <a:gd name="adj" fmla="val 3000"/>
            </a:avLst>
          </a:prstGeom>
          <a:solidFill>
            <a:srgbClr val="195B8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502" name="T502"/>
          <p:cNvSpPr txBox="1"/>
          <p:nvPr/>
        </p:nvSpPr>
        <p:spPr>
          <a:xfrm>
            <a:off x="889000" y="1905000"/>
            <a:ext cx="2540000" cy="13849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0" b="1" dirty="0">
                <a:solidFill>
                  <a:srgbClr val="4CBAC1"/>
                </a:solidFill>
                <a:latin typeface="Open Sans"/>
                <a:cs typeface="Open Sans"/>
              </a:rPr>
              <a:t>01</a:t>
            </a:r>
          </a:p>
        </p:txBody>
      </p:sp>
      <p:sp>
        <p:nvSpPr>
          <p:cNvPr id="503" name="T503"/>
          <p:cNvSpPr txBox="1"/>
          <p:nvPr/>
        </p:nvSpPr>
        <p:spPr>
          <a:xfrm>
            <a:off x="3810000" y="1905000"/>
            <a:ext cx="7366000" cy="965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Open Sans"/>
                <a:cs typeface="Open Sans"/>
              </a:rPr>
              <a:t>Methodology and definitions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3810000" y="2971800"/>
            <a:ext cx="7366000" cy="2184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b="1" dirty="0">
                <a:solidFill>
                  <a:srgbClr val="B2E1E3"/>
                </a:solidFill>
                <a:latin typeface="Open Sans"/>
                <a:cs typeface="Open Sans"/>
              </a:rPr>
              <a:t>Section contents: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Analysis goals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Methodology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Definitions</a:t>
            </a:r>
          </a:p>
        </p:txBody>
      </p:sp>
    </p:spTree>
    <p:extLst>
      <p:ext uri="{BB962C8B-B14F-4D97-AF65-F5344CB8AC3E}">
        <p14:creationId xmlns:p14="http://schemas.microsoft.com/office/powerpoint/2010/main" val="377704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Objectives and methodology</a:t>
            </a: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728AA06-C663-9B80-FEAB-6C7EE2A6CC80}"/>
              </a:ext>
            </a:extLst>
          </p:cNvPr>
          <p:cNvSpPr txBox="1">
            <a:spLocks/>
          </p:cNvSpPr>
          <p:nvPr/>
        </p:nvSpPr>
        <p:spPr>
          <a:xfrm>
            <a:off x="531696" y="1524000"/>
            <a:ext cx="5393616" cy="44831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5357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Objectives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5357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Inform strategic planning and coordination between government, service providers, and other stakeholders to achieve Water Supply and Sanitation (WSS) targets in [Country]’s urban areas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9A2CF0D-8C4A-97D6-6858-569B1B1511EC}"/>
              </a:ext>
            </a:extLst>
          </p:cNvPr>
          <p:cNvCxnSpPr>
            <a:cxnSpLocks/>
          </p:cNvCxnSpPr>
          <p:nvPr/>
        </p:nvCxnSpPr>
        <p:spPr>
          <a:xfrm>
            <a:off x="6096000" y="1524000"/>
            <a:ext cx="0" cy="44831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A8F64A9-A18D-C783-854E-17FB4EF02758}"/>
              </a:ext>
            </a:extLst>
          </p:cNvPr>
          <p:cNvSpPr txBox="1">
            <a:spLocks/>
          </p:cNvSpPr>
          <p:nvPr/>
        </p:nvSpPr>
        <p:spPr>
          <a:xfrm>
            <a:off x="6266688" y="1524000"/>
            <a:ext cx="5393616" cy="4648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88000" marR="0" indent="-288000" algn="l" defTabSz="34287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 sz="2000" b="0" kern="1200" baseline="0">
                <a:solidFill>
                  <a:srgbClr val="53575A"/>
                </a:solidFill>
                <a:latin typeface="+mn-lt"/>
                <a:ea typeface="+mn-ea"/>
                <a:cs typeface="+mn-cs"/>
              </a:defRPr>
            </a:lvl1pPr>
            <a:lvl2pPr marL="288000" indent="0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6000" indent="-288000" algn="l" defTabSz="742950" rtl="0" eaLnBrk="1" latinLnBrk="0" hangingPunct="1">
              <a:lnSpc>
                <a:spcPct val="90000"/>
              </a:lnSpc>
              <a:spcBef>
                <a:spcPts val="406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25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6000" indent="0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Methodology</a:t>
            </a:r>
          </a:p>
          <a:p>
            <a:pPr marL="0" indent="0">
              <a:buNone/>
            </a:pPr>
            <a:endParaRPr lang="en-US" b="1" baseline="30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Examined the past evolution and status of WSS service coverage for both urban and rural areas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Forecasted HHs growth and service coverage under a business-as-usual scenario based on historical trend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Assessed the service gap (# of HHs) as the difference between the # of HHs to achieve the [Target years] national targets and the forecast of HHs covered under BAU scenario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Estimated investment needed to meet targets, including cost of service expansion, required replacement of existing infrastructure, and non-domestic customers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Identified sector reforms that could mobilize additional resources to help close the investment gap, including:</a:t>
            </a:r>
          </a:p>
          <a:p>
            <a:pPr marL="516600" lvl="1" indent="-228600">
              <a:lnSpc>
                <a:spcPct val="100000"/>
              </a:lnSpc>
            </a:pPr>
            <a:r>
              <a:rPr lang="en-US" sz="2000" dirty="0">
                <a:solidFill>
                  <a:srgbClr val="5357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Increased collection efficiency</a:t>
            </a:r>
          </a:p>
          <a:p>
            <a:pPr marL="516600" lvl="1" indent="-228600">
              <a:lnSpc>
                <a:spcPct val="100000"/>
              </a:lnSpc>
            </a:pPr>
            <a:r>
              <a:rPr lang="en-US" sz="2000" dirty="0">
                <a:solidFill>
                  <a:srgbClr val="5357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NRW reduction</a:t>
            </a:r>
          </a:p>
          <a:p>
            <a:pPr marL="516600" lvl="1" indent="-228600">
              <a:lnSpc>
                <a:spcPct val="100000"/>
              </a:lnSpc>
            </a:pPr>
            <a:r>
              <a:rPr lang="en-US" sz="2000" dirty="0">
                <a:solidFill>
                  <a:srgbClr val="5357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Budget execution improvement</a:t>
            </a:r>
          </a:p>
          <a:p>
            <a:pPr marL="516600" lvl="1" indent="-228600">
              <a:lnSpc>
                <a:spcPct val="100000"/>
              </a:lnSpc>
            </a:pPr>
            <a:r>
              <a:rPr lang="en-US" sz="2000" dirty="0">
                <a:solidFill>
                  <a:srgbClr val="5357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Capex efficiency (unit cost)</a:t>
            </a:r>
          </a:p>
          <a:p>
            <a:pPr marL="516600" lvl="1" indent="-228600">
              <a:lnSpc>
                <a:spcPct val="100000"/>
              </a:lnSpc>
            </a:pPr>
            <a:r>
              <a:rPr lang="en-US" sz="2000" dirty="0">
                <a:solidFill>
                  <a:srgbClr val="5357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Optimized technology selection</a:t>
            </a:r>
          </a:p>
          <a:p>
            <a:pPr marL="516600" lvl="1" indent="-228600">
              <a:lnSpc>
                <a:spcPct val="100000"/>
              </a:lnSpc>
            </a:pPr>
            <a:r>
              <a:rPr lang="en-US" sz="2000" dirty="0">
                <a:solidFill>
                  <a:srgbClr val="5357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Tariff reform</a:t>
            </a:r>
          </a:p>
          <a:p>
            <a:pPr marL="516600" lvl="1" indent="-228600">
              <a:lnSpc>
                <a:spcPct val="100000"/>
              </a:lnSpc>
            </a:pPr>
            <a:r>
              <a:rPr lang="en-US" sz="2000" dirty="0">
                <a:solidFill>
                  <a:srgbClr val="5357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Microfinance</a:t>
            </a:r>
          </a:p>
          <a:p>
            <a:pPr marL="516600" lvl="1" indent="-228600">
              <a:lnSpc>
                <a:spcPct val="100000"/>
              </a:lnSpc>
            </a:pPr>
            <a:r>
              <a:rPr lang="en-US" sz="2000" dirty="0">
                <a:solidFill>
                  <a:srgbClr val="5357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Customized Interventions</a:t>
            </a:r>
            <a:endParaRPr lang="en-US" sz="2000" i="1" dirty="0">
              <a:solidFill>
                <a:srgbClr val="53575A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92F98C-EEB3-A459-3300-8C37E666FA6B}"/>
              </a:ext>
            </a:extLst>
          </p:cNvPr>
          <p:cNvSpPr txBox="1"/>
          <p:nvPr/>
        </p:nvSpPr>
        <p:spPr>
          <a:xfrm>
            <a:off x="1580665" y="3037816"/>
            <a:ext cx="38679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Understand status and expected coverage trends under a Business-As-Usual (BAU) scenario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98A59D-C8EC-A819-9249-5E333C550AAB}"/>
              </a:ext>
            </a:extLst>
          </p:cNvPr>
          <p:cNvSpPr txBox="1"/>
          <p:nvPr/>
        </p:nvSpPr>
        <p:spPr>
          <a:xfrm>
            <a:off x="1580665" y="4015124"/>
            <a:ext cx="38679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1200"/>
              </a:spcAft>
              <a:defRPr sz="1400"/>
            </a:lvl1pPr>
          </a:lstStyle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Estimate service coverage gap, as well as investment needed and investment gap for achieving WSS targets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D8AF5A-E94D-DA6E-59F0-68B40BED027D}"/>
              </a:ext>
            </a:extLst>
          </p:cNvPr>
          <p:cNvSpPr txBox="1"/>
          <p:nvPr/>
        </p:nvSpPr>
        <p:spPr>
          <a:xfrm>
            <a:off x="1580665" y="4931089"/>
            <a:ext cx="38679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1200"/>
              </a:spcAft>
              <a:defRPr sz="1400"/>
            </a:lvl1pPr>
          </a:lstStyle>
          <a:p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 strategic financing scenarios and identify reforms needed to generate additional resources from the WSS sector for closing the gap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AAD269D-AC0D-850C-2738-87981D6E2E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821" y="2915127"/>
            <a:ext cx="743451" cy="7434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368DF24-DD5D-367E-223D-6330C7CA86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060" y="4949735"/>
            <a:ext cx="680898" cy="68089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DA700FA-5EB0-D8A7-37DC-93D4234459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060" y="3988167"/>
            <a:ext cx="680899" cy="680899"/>
          </a:xfrm>
          <a:prstGeom prst="rect">
            <a:avLst/>
          </a:prstGeom>
        </p:spPr>
      </p:pic>
      <p:sp>
        <p:nvSpPr>
          <p:cNvPr id="900" name="Prompt (off-slide)"/>
          <p:cNvSpPr txBox="1"/>
          <p:nvPr/>
        </p:nvSpPr>
        <p:spPr>
          <a:xfrm>
            <a:off x="12446000" y="1397000"/>
            <a:ext cx="3810000" cy="127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Prompt: The interventions listed should be dynamic to the tool</a:t>
            </a:r>
          </a:p>
        </p:txBody>
      </p:sp>
    </p:spTree>
    <p:extLst>
      <p:ext uri="{BB962C8B-B14F-4D97-AF65-F5344CB8AC3E}">
        <p14:creationId xmlns:p14="http://schemas.microsoft.com/office/powerpoint/2010/main" val="3868229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Definitions used in the analysis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T501"/>
          <p:cNvSpPr txBox="1"/>
          <p:nvPr/>
        </p:nvSpPr>
        <p:spPr>
          <a:xfrm>
            <a:off x="520700" y="1524000"/>
            <a:ext cx="54610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Drinking water service ladder</a:t>
            </a:r>
          </a:p>
        </p:txBody>
      </p:sp>
      <p:graphicFrame>
        <p:nvGraphicFramePr>
          <p:cNvPr id="502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311573"/>
              </p:ext>
            </p:extLst>
          </p:nvPr>
        </p:nvGraphicFramePr>
        <p:xfrm>
          <a:off x="520700" y="1854200"/>
          <a:ext cx="5461000" cy="2741608"/>
        </p:xfrm>
        <a:graphic>
          <a:graphicData uri="http://schemas.openxmlformats.org/drawingml/2006/table">
            <a:tbl>
              <a:tblPr firstRow="1"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Service level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Definition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95B80"/>
                          </a:solidFill>
                          <a:latin typeface="Open Sans"/>
                          <a:cs typeface="Open Sans"/>
                        </a:rPr>
                        <a:t>Safely managed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Drinking water from an improved source that is accessible on premises, available when needed, and free from faecal and priority chemical contamination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95B80"/>
                          </a:solidFill>
                          <a:latin typeface="Open Sans"/>
                          <a:cs typeface="Open Sans"/>
                        </a:rPr>
                        <a:t>Basic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Drinking water from an improved source, with a round trip collection time of 30 minutes or less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95B80"/>
                          </a:solidFill>
                          <a:latin typeface="Open Sans"/>
                          <a:cs typeface="Open Sans"/>
                        </a:rPr>
                        <a:t>Limited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Drinking water from an improved source, with a round trip collection time of more than 30 minutes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95B80"/>
                          </a:solidFill>
                          <a:latin typeface="Open Sans"/>
                          <a:cs typeface="Open Sans"/>
                        </a:rPr>
                        <a:t>Unimproved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Drinking water from an unprotected dug well or unprotected spring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95B80"/>
                          </a:solidFill>
                          <a:latin typeface="Open Sans"/>
                          <a:cs typeface="Open Sans"/>
                        </a:rPr>
                        <a:t>Surface water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Drinking water taken directly from a river, dam, lake, pond, stream, canal, or irrigation channel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3" name="T503"/>
          <p:cNvSpPr txBox="1"/>
          <p:nvPr/>
        </p:nvSpPr>
        <p:spPr>
          <a:xfrm>
            <a:off x="6210300" y="1524000"/>
            <a:ext cx="54610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Sanitation service ladder</a:t>
            </a:r>
          </a:p>
        </p:txBody>
      </p:sp>
      <p:graphicFrame>
        <p:nvGraphicFramePr>
          <p:cNvPr id="504" name="Table 5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162625"/>
              </p:ext>
            </p:extLst>
          </p:nvPr>
        </p:nvGraphicFramePr>
        <p:xfrm>
          <a:off x="6210300" y="1854200"/>
          <a:ext cx="5461000" cy="2841616"/>
        </p:xfrm>
        <a:graphic>
          <a:graphicData uri="http://schemas.openxmlformats.org/drawingml/2006/table">
            <a:tbl>
              <a:tblPr firstRow="1"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Service level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Definition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95B80"/>
                          </a:solidFill>
                          <a:latin typeface="Open Sans"/>
                          <a:cs typeface="Open Sans"/>
                        </a:rPr>
                        <a:t>Safely managed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Use of an improved facility that is not shared with other households, and where excreta are safely disposed of in situ or transported and treated off-site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95B80"/>
                          </a:solidFill>
                          <a:latin typeface="Open Sans"/>
                          <a:cs typeface="Open Sans"/>
                        </a:rPr>
                        <a:t>Basic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Use of an improved facility that is not shared with other households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95B80"/>
                          </a:solidFill>
                          <a:latin typeface="Open Sans"/>
                          <a:cs typeface="Open Sans"/>
                        </a:rPr>
                        <a:t>Limited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Use of an improved facility shared between two or more households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95B80"/>
                          </a:solidFill>
                          <a:latin typeface="Open Sans"/>
                          <a:cs typeface="Open Sans"/>
                        </a:rPr>
                        <a:t>Unimproved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Use of pit latrines without a slab or platform, hanging latrines, or bucket latrines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95B80"/>
                          </a:solidFill>
                          <a:latin typeface="Open Sans"/>
                          <a:cs typeface="Open Sans"/>
                        </a:rPr>
                        <a:t>Open defecation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Disposal of human faeces in fields, forests, bushes, open water, beaches, or other open spaces, or with solid waste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5" name="C505"/>
          <p:cNvSpPr/>
          <p:nvPr/>
        </p:nvSpPr>
        <p:spPr>
          <a:xfrm>
            <a:off x="520700" y="4622800"/>
            <a:ext cx="5461000" cy="11684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 w="12700">
            <a:solidFill>
              <a:srgbClr val="009CA7"/>
            </a:solidFill>
            <a:prstDash val="dash"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6" name="T506"/>
          <p:cNvSpPr txBox="1"/>
          <p:nvPr/>
        </p:nvSpPr>
        <p:spPr>
          <a:xfrm>
            <a:off x="698500" y="4749800"/>
            <a:ext cx="5105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12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Urban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[User input: definition of urban used in this analysis — administrative classification, population threshold, or utility service area.]</a:t>
            </a:r>
            <a:endParaRPr lang="en-US" sz="1400" i="1" dirty="0">
              <a:solidFill>
                <a:srgbClr val="6592AB"/>
              </a:solidFill>
              <a:latin typeface="Open Sans"/>
              <a:cs typeface="Open Sans"/>
            </a:endParaRPr>
          </a:p>
        </p:txBody>
      </p:sp>
      <p:sp>
        <p:nvSpPr>
          <p:cNvPr id="507" name="C507"/>
          <p:cNvSpPr/>
          <p:nvPr/>
        </p:nvSpPr>
        <p:spPr>
          <a:xfrm>
            <a:off x="6210300" y="4622800"/>
            <a:ext cx="5461000" cy="11684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 w="12700">
            <a:solidFill>
              <a:srgbClr val="009CA7"/>
            </a:solidFill>
            <a:prstDash val="dash"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8" name="T508"/>
          <p:cNvSpPr txBox="1"/>
          <p:nvPr/>
        </p:nvSpPr>
        <p:spPr>
          <a:xfrm>
            <a:off x="6388100" y="4749800"/>
            <a:ext cx="5105400" cy="681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12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Rural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[User input: definition of rural used in this analysis, and how it reconciles with the urban definition and national statistics.]</a:t>
            </a:r>
          </a:p>
        </p:txBody>
      </p:sp>
      <p:sp>
        <p:nvSpPr>
          <p:cNvPr id="509" name="T509"/>
          <p:cNvSpPr txBox="1"/>
          <p:nvPr/>
        </p:nvSpPr>
        <p:spPr>
          <a:xfrm>
            <a:off x="520700" y="5969000"/>
            <a:ext cx="111506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Open Sans"/>
                <a:cs typeface="Open Sans"/>
              </a:rPr>
              <a:t>Source: WHO/UNICEF Joint Monitoring </a:t>
            </a:r>
            <a:r>
              <a:rPr lang="en-US" sz="1200" err="1">
                <a:solidFill>
                  <a:srgbClr val="7A7A7A"/>
                </a:solidFill>
                <a:latin typeface="Open Sans"/>
                <a:cs typeface="Open Sans"/>
              </a:rPr>
              <a:t>Programme</a:t>
            </a:r>
            <a:r>
              <a:rPr lang="en-US" sz="1200" dirty="0">
                <a:solidFill>
                  <a:srgbClr val="7A7A7A"/>
                </a:solidFill>
                <a:latin typeface="Open Sans"/>
                <a:cs typeface="Open Sans"/>
              </a:rPr>
              <a:t> service ladders; coverage measured against the safely managed rung unless stated.</a:t>
            </a:r>
          </a:p>
        </p:txBody>
      </p:sp>
    </p:spTree>
    <p:extLst>
      <p:ext uri="{BB962C8B-B14F-4D97-AF65-F5344CB8AC3E}">
        <p14:creationId xmlns:p14="http://schemas.microsoft.com/office/powerpoint/2010/main" val="4222322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Household forecasts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801" name="HH forecast chart"/>
          <p:cNvGraphicFramePr/>
          <p:nvPr>
            <p:extLst>
              <p:ext uri="{D42A27DB-BD31-4B8C-83A1-F6EECF244321}">
                <p14:modId xmlns:p14="http://schemas.microsoft.com/office/powerpoint/2010/main" val="1251531675"/>
              </p:ext>
            </p:extLst>
          </p:nvPr>
        </p:nvGraphicFramePr>
        <p:xfrm>
          <a:off x="519896" y="1524000"/>
          <a:ext cx="7366000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1" name="C501"/>
          <p:cNvSpPr/>
          <p:nvPr/>
        </p:nvSpPr>
        <p:spPr>
          <a:xfrm>
            <a:off x="8090704" y="1524000"/>
            <a:ext cx="3581400" cy="4445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502" name="T502"/>
          <p:cNvSpPr txBox="1"/>
          <p:nvPr/>
        </p:nvSpPr>
        <p:spPr>
          <a:xfrm>
            <a:off x="8266896" y="1701800"/>
            <a:ext cx="3225800" cy="289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Household numbers grow from [X] to [Y] by [target year].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Growth rate assumed is [Z]% a year.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How urbanisation shifts the service task.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Sensitivity of the forecast to migration.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Source and vintage of the population data.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</p:spTree>
    <p:extLst>
      <p:ext uri="{BB962C8B-B14F-4D97-AF65-F5344CB8AC3E}">
        <p14:creationId xmlns:p14="http://schemas.microsoft.com/office/powerpoint/2010/main" val="2902051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Urban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C501"/>
          <p:cNvSpPr/>
          <p:nvPr/>
        </p:nvSpPr>
        <p:spPr>
          <a:xfrm>
            <a:off x="520700" y="1524000"/>
            <a:ext cx="11150600" cy="3810000"/>
          </a:xfrm>
          <a:prstGeom prst="roundRect">
            <a:avLst>
              <a:gd name="adj" fmla="val 3000"/>
            </a:avLst>
          </a:prstGeom>
          <a:solidFill>
            <a:srgbClr val="195B8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502" name="T502"/>
          <p:cNvSpPr txBox="1"/>
          <p:nvPr/>
        </p:nvSpPr>
        <p:spPr>
          <a:xfrm>
            <a:off x="889000" y="1905000"/>
            <a:ext cx="254000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0" b="1">
                <a:solidFill>
                  <a:srgbClr val="4CBAC1"/>
                </a:solidFill>
                <a:latin typeface="Open Sans"/>
                <a:ea typeface="Open Sans"/>
                <a:cs typeface="Open Sans"/>
              </a:rPr>
              <a:t>02</a:t>
            </a:r>
            <a:endParaRPr lang="en-US" sz="9000" b="1" dirty="0">
              <a:solidFill>
                <a:srgbClr val="4CBAC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03" name="T503"/>
          <p:cNvSpPr txBox="1"/>
          <p:nvPr/>
        </p:nvSpPr>
        <p:spPr>
          <a:xfrm>
            <a:off x="3810000" y="1905000"/>
            <a:ext cx="7366000" cy="965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Open Sans"/>
                <a:cs typeface="Open Sans"/>
              </a:rPr>
              <a:t>Urban water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3810000" y="2971800"/>
            <a:ext cx="7366000" cy="218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b="1" dirty="0">
                <a:solidFill>
                  <a:srgbClr val="B2E1E3"/>
                </a:solidFill>
                <a:latin typeface="Open Sans"/>
                <a:cs typeface="Open Sans"/>
              </a:rPr>
              <a:t>Section contents: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Coverage and targets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Service gap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Investment gap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Interventions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Intervention details</a:t>
            </a:r>
          </a:p>
        </p:txBody>
      </p:sp>
    </p:spTree>
    <p:extLst>
      <p:ext uri="{BB962C8B-B14F-4D97-AF65-F5344CB8AC3E}">
        <p14:creationId xmlns:p14="http://schemas.microsoft.com/office/powerpoint/2010/main" val="832166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Coverage and targets: urban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T501"/>
          <p:cNvSpPr txBox="1"/>
          <p:nvPr/>
        </p:nvSpPr>
        <p:spPr>
          <a:xfrm>
            <a:off x="520700" y="1524000"/>
            <a:ext cx="74676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Urban water service coverage, share of households</a:t>
            </a:r>
          </a:p>
        </p:txBody>
      </p:sp>
      <p:graphicFrame>
        <p:nvGraphicFramePr>
          <p:cNvPr id="502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404532"/>
              </p:ext>
            </p:extLst>
          </p:nvPr>
        </p:nvGraphicFramePr>
        <p:xfrm>
          <a:off x="520700" y="1854200"/>
          <a:ext cx="7467600" cy="3895276"/>
        </p:xfrm>
        <a:graphic>
          <a:graphicData uri="http://schemas.openxmlformats.org/drawingml/2006/table">
            <a:tbl>
              <a:tblPr firstRow="1"/>
              <a:tblGrid>
                <a:gridCol w="23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Service level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Actual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[first data year]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Actual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[baseline year]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Target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[first target year]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Target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[last target year]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Safely managed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51%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75%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100%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At least basic, excluding safely managed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45%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38%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20%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Less than basic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25%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11%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5%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 urban HHs ('000)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620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940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1,120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1,483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3" name="C503"/>
          <p:cNvSpPr/>
          <p:nvPr/>
        </p:nvSpPr>
        <p:spPr>
          <a:xfrm>
            <a:off x="8242300" y="1524000"/>
            <a:ext cx="3429000" cy="41148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4" name="T504"/>
          <p:cNvSpPr txBox="1"/>
          <p:nvPr/>
        </p:nvSpPr>
        <p:spPr>
          <a:xfrm>
            <a:off x="8420100" y="1676400"/>
            <a:ext cx="3073400" cy="3121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Coverage moved [X] households, [first year]–[baseline year].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Target implies [Y] a year, against [Z] achieved.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Who serves the unserved today, and on what terms.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Reforms, programmes, or shocks behind the trend.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Basis for the target.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8" name="T508"/>
          <p:cNvSpPr txBox="1"/>
          <p:nvPr/>
        </p:nvSpPr>
        <p:spPr>
          <a:xfrm>
            <a:off x="520700" y="5969000"/>
            <a:ext cx="111506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7A7A7A"/>
                </a:solidFill>
                <a:latin typeface="Open Sans"/>
                <a:cs typeface="Open Sans"/>
              </a:rPr>
              <a:t>Service levels follow the JMP service ladder (see Definitions). Figures are placeholders populated by the tool. Targets are drawn from [source of target].</a:t>
            </a:r>
          </a:p>
        </p:txBody>
      </p:sp>
    </p:spTree>
    <p:extLst>
      <p:ext uri="{BB962C8B-B14F-4D97-AF65-F5344CB8AC3E}">
        <p14:creationId xmlns:p14="http://schemas.microsoft.com/office/powerpoint/2010/main" val="1360412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Service gap: urban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801" name="Service gap chart"/>
          <p:cNvGraphicFramePr/>
          <p:nvPr>
            <p:extLst>
              <p:ext uri="{D42A27DB-BD31-4B8C-83A1-F6EECF244321}">
                <p14:modId xmlns:p14="http://schemas.microsoft.com/office/powerpoint/2010/main" val="724519139"/>
              </p:ext>
            </p:extLst>
          </p:nvPr>
        </p:nvGraphicFramePr>
        <p:xfrm>
          <a:off x="520700" y="1524000"/>
          <a:ext cx="73152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1" name="C501"/>
          <p:cNvSpPr/>
          <p:nvPr/>
        </p:nvSpPr>
        <p:spPr>
          <a:xfrm>
            <a:off x="8039100" y="1524000"/>
            <a:ext cx="3632200" cy="4191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2" name="T502"/>
          <p:cNvSpPr txBox="1"/>
          <p:nvPr/>
        </p:nvSpPr>
        <p:spPr>
          <a:xfrm>
            <a:off x="8216900" y="1701800"/>
            <a:ext cx="3276600" cy="3121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[X] households remain unserved at [baseline year].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On current trends the [target year] gap is [Y] households.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Which service levels drive most of the gap.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Population growth versus new connections.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Where the gap is concentrated geographically.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5" name="T505"/>
          <p:cNvSpPr txBox="1"/>
          <p:nvPr/>
        </p:nvSpPr>
        <p:spPr>
          <a:xfrm>
            <a:off x="520700" y="5969000"/>
            <a:ext cx="111506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7A7A7A"/>
                </a:solidFill>
                <a:latin typeface="Open Sans"/>
                <a:cs typeface="Open Sans"/>
              </a:rPr>
              <a:t>Note: the service gap is the difference between the households required to meet the target and those forecast to be covered under BAU. Figures are placeholders populated by the tool.</a:t>
            </a:r>
          </a:p>
        </p:txBody>
      </p:sp>
    </p:spTree>
    <p:extLst>
      <p:ext uri="{BB962C8B-B14F-4D97-AF65-F5344CB8AC3E}">
        <p14:creationId xmlns:p14="http://schemas.microsoft.com/office/powerpoint/2010/main" val="2643014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Investment gap: urban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501" name="Table 5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804624"/>
              </p:ext>
            </p:extLst>
          </p:nvPr>
        </p:nvGraphicFramePr>
        <p:xfrm>
          <a:off x="520700" y="1524000"/>
          <a:ext cx="11150600" cy="2844800"/>
        </p:xfrm>
        <a:graphic>
          <a:graphicData uri="http://schemas.openxmlformats.org/drawingml/2006/table">
            <a:tbl>
              <a:tblPr firstRow="1"/>
              <a:tblGrid>
                <a:gridCol w="302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Urban water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1]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1]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2]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2]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Investment needed for new HHs (A)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180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1,350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420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3,150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4,500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Replacement capex needed (B)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120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1,200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Investment needed (C = A + B)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220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1,650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540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4,050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760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5,700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BAU investment (D)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450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130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975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190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1,425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Investment gap (C − D)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160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1,200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410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3,075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570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4,275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2" name="C502"/>
          <p:cNvSpPr/>
          <p:nvPr/>
        </p:nvSpPr>
        <p:spPr>
          <a:xfrm>
            <a:off x="520700" y="4406900"/>
            <a:ext cx="11150600" cy="18669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3" name="T503"/>
          <p:cNvSpPr txBox="1"/>
          <p:nvPr/>
        </p:nvSpPr>
        <p:spPr>
          <a:xfrm>
            <a:off x="698500" y="4483100"/>
            <a:ext cx="10795000" cy="17128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Total investment need of [X] billion to [target year]; current spending covers about [Y]%.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Split between capital works and ongoing operating subsidy.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Where the financing gap is most binding, and who could close it.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Assumptions the estimate is most sensitive to.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</p:spTree>
    <p:extLst>
      <p:ext uri="{BB962C8B-B14F-4D97-AF65-F5344CB8AC3E}">
        <p14:creationId xmlns:p14="http://schemas.microsoft.com/office/powerpoint/2010/main" val="687799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Interventions: urban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801" name="Fan chart"/>
          <p:cNvGraphicFramePr/>
          <p:nvPr>
            <p:extLst>
              <p:ext uri="{D42A27DB-BD31-4B8C-83A1-F6EECF244321}">
                <p14:modId xmlns:p14="http://schemas.microsoft.com/office/powerpoint/2010/main" val="3356174514"/>
              </p:ext>
            </p:extLst>
          </p:nvPr>
        </p:nvGraphicFramePr>
        <p:xfrm>
          <a:off x="520700" y="1524000"/>
          <a:ext cx="7366000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01" name="Table 5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223862"/>
              </p:ext>
            </p:extLst>
          </p:nvPr>
        </p:nvGraphicFramePr>
        <p:xfrm>
          <a:off x="8089900" y="1524000"/>
          <a:ext cx="3581400" cy="2861868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Intervention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Resources generated ([cur]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Added HHs ('000)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NRW reduction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339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Increased collection efficiency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192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Capex efficiency (unit cost)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91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Tariff reform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7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61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47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683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2" name="C502"/>
          <p:cNvSpPr/>
          <p:nvPr/>
        </p:nvSpPr>
        <p:spPr>
          <a:xfrm>
            <a:off x="8049327" y="4445000"/>
            <a:ext cx="3581400" cy="18034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3" name="T503"/>
          <p:cNvSpPr txBox="1"/>
          <p:nvPr/>
        </p:nvSpPr>
        <p:spPr>
          <a:xfrm>
            <a:off x="8255000" y="4521200"/>
            <a:ext cx="3251200" cy="1648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Which reforms are sequenced first, and why.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Institutional prerequisites for each.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Resources each reform unlocks.</a:t>
            </a:r>
          </a:p>
          <a:p>
            <a:pPr marL="0" indent="0"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12446000" y="1397000"/>
            <a:ext cx="3810000" cy="889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Prompt: chart values are illustrative placeholders populated by the tool.</a:t>
            </a:r>
          </a:p>
        </p:txBody>
      </p:sp>
    </p:spTree>
    <p:extLst>
      <p:ext uri="{BB962C8B-B14F-4D97-AF65-F5344CB8AC3E}">
        <p14:creationId xmlns:p14="http://schemas.microsoft.com/office/powerpoint/2010/main" val="4138121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[intervention name]: urban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C501"/>
          <p:cNvSpPr/>
          <p:nvPr/>
        </p:nvSpPr>
        <p:spPr>
          <a:xfrm>
            <a:off x="5207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2" name="T502"/>
          <p:cNvSpPr txBox="1"/>
          <p:nvPr/>
        </p:nvSpPr>
        <p:spPr>
          <a:xfrm>
            <a:off x="698500" y="1701800"/>
            <a:ext cx="3276600" cy="23673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Design and delivery</a:t>
            </a:r>
          </a:p>
          <a:p>
            <a:pPr marL="0" indent="0" algn="l">
              <a:lnSpc>
                <a:spcPct val="105000"/>
              </a:lnSpc>
              <a:spcAft>
                <a:spcPts val="22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[User input: describe the programme design — scope, phasing, geography, and the institutions responsible.]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Areas to be targeted</a:t>
            </a:r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[List the service areas, districts, or utility zones covered]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Implementing agencies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[Utility, regulator, line ministry, local government]</a:t>
            </a:r>
          </a:p>
        </p:txBody>
      </p:sp>
      <p:sp>
        <p:nvSpPr>
          <p:cNvPr id="503" name="C503"/>
          <p:cNvSpPr/>
          <p:nvPr/>
        </p:nvSpPr>
        <p:spPr>
          <a:xfrm>
            <a:off x="42799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4" name="T504"/>
          <p:cNvSpPr txBox="1"/>
          <p:nvPr/>
        </p:nvSpPr>
        <p:spPr>
          <a:xfrm>
            <a:off x="4457700" y="1701800"/>
            <a:ext cx="3276600" cy="2819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Costs and targets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Resources generated: [X] billion over [start year]–[end year]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Additional HHs served: [Y] thousand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Programme cost: [Z] billion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Baseline performance: [current value]</a:t>
            </a:r>
          </a:p>
          <a:p>
            <a:pPr marL="165000" indent="-165000" algn="l">
              <a:lnSpc>
                <a:spcPct val="105000"/>
              </a:lnSpc>
              <a:spcAft>
                <a:spcPts val="22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Target performance: [target value] by [year]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[User input: milestones and the action plan to secure approval — e.g. regulator sign-off for a tariff increase]</a:t>
            </a:r>
          </a:p>
        </p:txBody>
      </p:sp>
      <p:sp>
        <p:nvSpPr>
          <p:cNvPr id="505" name="C505"/>
          <p:cNvSpPr/>
          <p:nvPr/>
        </p:nvSpPr>
        <p:spPr>
          <a:xfrm>
            <a:off x="80391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6" name="T506"/>
          <p:cNvSpPr txBox="1"/>
          <p:nvPr/>
        </p:nvSpPr>
        <p:spPr>
          <a:xfrm>
            <a:off x="8216900" y="1701800"/>
            <a:ext cx="3276600" cy="32722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Evidence and benchmarks</a:t>
            </a:r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[User input: cite comparator utilities or countries that have achieved this level of performance, and the arrangements that made it possible — performance-based contracts, MDB support, corporatisation, concessions.]</a:t>
            </a:r>
          </a:p>
          <a:p>
            <a:pPr marL="165000" indent="-165000" algn="l">
              <a:lnSpc>
                <a:spcPct val="105000"/>
              </a:lnSpc>
              <a:spcAft>
                <a:spcPts val="120"/>
              </a:spcAft>
              <a:buFont typeface="Arial"/>
              <a:buChar char="•"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Benchmark 1: [utility, country] — [result, year]</a:t>
            </a:r>
          </a:p>
          <a:p>
            <a:pPr marL="165000" indent="-165000" algn="l">
              <a:lnSpc>
                <a:spcPct val="105000"/>
              </a:lnSpc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Benchmark 2: [utility, country] — [result, year]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Risks and mitigation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[Key delivery risks and how they will be managed]</a:t>
            </a:r>
          </a:p>
        </p:txBody>
      </p:sp>
      <p:sp>
        <p:nvSpPr>
          <p:cNvPr id="507" name="C507"/>
          <p:cNvSpPr/>
          <p:nvPr/>
        </p:nvSpPr>
        <p:spPr>
          <a:xfrm>
            <a:off x="12446000" y="1270000"/>
            <a:ext cx="3810000" cy="121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09CA7"/>
            </a:solidFill>
            <a:prstDash val="dash"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8" name="T508"/>
          <p:cNvSpPr txBox="1"/>
          <p:nvPr/>
        </p:nvSpPr>
        <p:spPr>
          <a:xfrm>
            <a:off x="12573000" y="1397000"/>
            <a:ext cx="3556000" cy="6684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Prompt: duplicate this slide for each intervention switched on in the tool, using the intervention names listed on slide 5.</a:t>
            </a:r>
          </a:p>
        </p:txBody>
      </p:sp>
    </p:spTree>
    <p:extLst>
      <p:ext uri="{BB962C8B-B14F-4D97-AF65-F5344CB8AC3E}">
        <p14:creationId xmlns:p14="http://schemas.microsoft.com/office/powerpoint/2010/main" val="331717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Rural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C501"/>
          <p:cNvSpPr/>
          <p:nvPr/>
        </p:nvSpPr>
        <p:spPr>
          <a:xfrm>
            <a:off x="520700" y="1524000"/>
            <a:ext cx="11150600" cy="3810000"/>
          </a:xfrm>
          <a:prstGeom prst="roundRect">
            <a:avLst>
              <a:gd name="adj" fmla="val 3000"/>
            </a:avLst>
          </a:prstGeom>
          <a:solidFill>
            <a:srgbClr val="195B8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502" name="T502"/>
          <p:cNvSpPr txBox="1"/>
          <p:nvPr/>
        </p:nvSpPr>
        <p:spPr>
          <a:xfrm>
            <a:off x="889000" y="1905000"/>
            <a:ext cx="254000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0" b="1">
                <a:solidFill>
                  <a:srgbClr val="4CBAC1"/>
                </a:solidFill>
                <a:latin typeface="Open Sans"/>
                <a:ea typeface="Open Sans"/>
                <a:cs typeface="Open Sans"/>
              </a:rPr>
              <a:t>03</a:t>
            </a:r>
            <a:endParaRPr lang="en-US" sz="9000" b="1" dirty="0">
              <a:solidFill>
                <a:srgbClr val="4CBAC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03" name="T503"/>
          <p:cNvSpPr txBox="1"/>
          <p:nvPr/>
        </p:nvSpPr>
        <p:spPr>
          <a:xfrm>
            <a:off x="3810000" y="1905000"/>
            <a:ext cx="7366000" cy="965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Open Sans"/>
                <a:cs typeface="Open Sans"/>
              </a:rPr>
              <a:t>Rural water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3810000" y="2971800"/>
            <a:ext cx="7366000" cy="218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b="1" dirty="0">
                <a:solidFill>
                  <a:srgbClr val="B2E1E3"/>
                </a:solidFill>
                <a:latin typeface="Open Sans"/>
                <a:cs typeface="Open Sans"/>
              </a:rPr>
              <a:t>Section contents: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Coverage and targets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Service gap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Investment gap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Interventions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Intervention details</a:t>
            </a:r>
          </a:p>
        </p:txBody>
      </p:sp>
    </p:spTree>
    <p:extLst>
      <p:ext uri="{BB962C8B-B14F-4D97-AF65-F5344CB8AC3E}">
        <p14:creationId xmlns:p14="http://schemas.microsoft.com/office/powerpoint/2010/main" val="2768205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Coverage and targets: rural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T501"/>
          <p:cNvSpPr txBox="1"/>
          <p:nvPr/>
        </p:nvSpPr>
        <p:spPr>
          <a:xfrm>
            <a:off x="520700" y="1524000"/>
            <a:ext cx="74676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Rural water service coverage, share of households</a:t>
            </a:r>
          </a:p>
        </p:txBody>
      </p:sp>
      <p:graphicFrame>
        <p:nvGraphicFramePr>
          <p:cNvPr id="502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27658"/>
              </p:ext>
            </p:extLst>
          </p:nvPr>
        </p:nvGraphicFramePr>
        <p:xfrm>
          <a:off x="520700" y="1854200"/>
          <a:ext cx="7467600" cy="3895276"/>
        </p:xfrm>
        <a:graphic>
          <a:graphicData uri="http://schemas.openxmlformats.org/drawingml/2006/table">
            <a:tbl>
              <a:tblPr firstRow="1"/>
              <a:tblGrid>
                <a:gridCol w="23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Service level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Actual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[first data year]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Actual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[baseline year]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Target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[first target year]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Target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[last target year]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Safely managed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51%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75%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100%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At least basic, excluding safely managed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45%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38%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20%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Less than basic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25%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11%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5%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 rural HHs ('000)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620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940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1,120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1,483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3" name="C503"/>
          <p:cNvSpPr/>
          <p:nvPr/>
        </p:nvSpPr>
        <p:spPr>
          <a:xfrm>
            <a:off x="8242300" y="1524000"/>
            <a:ext cx="3429000" cy="41148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4" name="T504"/>
          <p:cNvSpPr txBox="1"/>
          <p:nvPr/>
        </p:nvSpPr>
        <p:spPr>
          <a:xfrm>
            <a:off x="8420100" y="1676400"/>
            <a:ext cx="3073400" cy="3121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Coverage moved [X] households, [first year]–[baseline year].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Target implies [Y] a year, against [Z] achieved.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Who serves the unserved today, and on what terms.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Reforms, programmes, or shocks behind the trend.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Basis for the target.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8" name="T508"/>
          <p:cNvSpPr txBox="1"/>
          <p:nvPr/>
        </p:nvSpPr>
        <p:spPr>
          <a:xfrm>
            <a:off x="520700" y="5969000"/>
            <a:ext cx="111506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7A7A7A"/>
                </a:solidFill>
                <a:latin typeface="Open Sans"/>
                <a:cs typeface="Open Sans"/>
              </a:rPr>
              <a:t>Service levels follow the JMP service ladder (see Definitions). Figures are placeholders populated by the tool. Targets are drawn from [source of target].</a:t>
            </a:r>
          </a:p>
        </p:txBody>
      </p:sp>
    </p:spTree>
    <p:extLst>
      <p:ext uri="{BB962C8B-B14F-4D97-AF65-F5344CB8AC3E}">
        <p14:creationId xmlns:p14="http://schemas.microsoft.com/office/powerpoint/2010/main" val="3820429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Service gap: rural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801" name="Service gap chart"/>
          <p:cNvGraphicFramePr/>
          <p:nvPr>
            <p:extLst>
              <p:ext uri="{D42A27DB-BD31-4B8C-83A1-F6EECF244321}">
                <p14:modId xmlns:p14="http://schemas.microsoft.com/office/powerpoint/2010/main" val="3588540772"/>
              </p:ext>
            </p:extLst>
          </p:nvPr>
        </p:nvGraphicFramePr>
        <p:xfrm>
          <a:off x="520700" y="1524000"/>
          <a:ext cx="73152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1" name="C501"/>
          <p:cNvSpPr/>
          <p:nvPr/>
        </p:nvSpPr>
        <p:spPr>
          <a:xfrm>
            <a:off x="8039100" y="1524000"/>
            <a:ext cx="3632200" cy="4191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2" name="T502"/>
          <p:cNvSpPr txBox="1"/>
          <p:nvPr/>
        </p:nvSpPr>
        <p:spPr>
          <a:xfrm>
            <a:off x="8216900" y="1701800"/>
            <a:ext cx="3276600" cy="3121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[X] households remain unserved at [baseline year].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On current trends the [target year] gap is [Y] households.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Which service levels drive most of the gap.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Population growth versus new connections.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Where the gap is concentrated geographically.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5" name="T505"/>
          <p:cNvSpPr txBox="1"/>
          <p:nvPr/>
        </p:nvSpPr>
        <p:spPr>
          <a:xfrm>
            <a:off x="520700" y="5969000"/>
            <a:ext cx="111506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7A7A7A"/>
                </a:solidFill>
                <a:latin typeface="Open Sans"/>
                <a:cs typeface="Open Sans"/>
              </a:rPr>
              <a:t>Note: the service gap is the difference between the households required to meet the target and those forecast to be covered under BAU. Figures are placeholders populated by the tool.</a:t>
            </a:r>
          </a:p>
        </p:txBody>
      </p:sp>
    </p:spTree>
    <p:extLst>
      <p:ext uri="{BB962C8B-B14F-4D97-AF65-F5344CB8AC3E}">
        <p14:creationId xmlns:p14="http://schemas.microsoft.com/office/powerpoint/2010/main" val="2896739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Investment gap: rural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501" name="Table 5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45607"/>
              </p:ext>
            </p:extLst>
          </p:nvPr>
        </p:nvGraphicFramePr>
        <p:xfrm>
          <a:off x="520700" y="1524000"/>
          <a:ext cx="11150600" cy="2524184"/>
        </p:xfrm>
        <a:graphic>
          <a:graphicData uri="http://schemas.openxmlformats.org/drawingml/2006/table">
            <a:tbl>
              <a:tblPr firstRow="1"/>
              <a:tblGrid>
                <a:gridCol w="302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Rural water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1]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1]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2]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2]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Investment needed for new HHs (A)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180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1,350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420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3,150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4,500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Replacement capex needed (B)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120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1,200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Investment needed (C = A + B)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220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1,650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540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4,050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760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5,700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BAU investment (D)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450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130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975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190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1,425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Investment gap (C − D)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160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1,200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410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3,075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570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4,275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2" name="C502"/>
          <p:cNvSpPr/>
          <p:nvPr/>
        </p:nvSpPr>
        <p:spPr>
          <a:xfrm>
            <a:off x="520700" y="4191000"/>
            <a:ext cx="11150600" cy="19685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3" name="T503"/>
          <p:cNvSpPr txBox="1"/>
          <p:nvPr/>
        </p:nvSpPr>
        <p:spPr>
          <a:xfrm>
            <a:off x="698500" y="4318000"/>
            <a:ext cx="10795000" cy="17128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Total investment need of [X] billion to [target year]; current spending covers about [Y]%.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Split between capital works and ongoing operating subsidy.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Where the financing gap is most binding, and who could close it.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Assumptions the estimate is most sensitive to.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</p:spTree>
    <p:extLst>
      <p:ext uri="{BB962C8B-B14F-4D97-AF65-F5344CB8AC3E}">
        <p14:creationId xmlns:p14="http://schemas.microsoft.com/office/powerpoint/2010/main" val="1586516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Interventions: rural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801" name="Fan chart"/>
          <p:cNvGraphicFramePr/>
          <p:nvPr>
            <p:extLst>
              <p:ext uri="{D42A27DB-BD31-4B8C-83A1-F6EECF244321}">
                <p14:modId xmlns:p14="http://schemas.microsoft.com/office/powerpoint/2010/main" val="1017183829"/>
              </p:ext>
            </p:extLst>
          </p:nvPr>
        </p:nvGraphicFramePr>
        <p:xfrm>
          <a:off x="520700" y="1524000"/>
          <a:ext cx="7366000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01" name="Table 5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483588"/>
              </p:ext>
            </p:extLst>
          </p:nvPr>
        </p:nvGraphicFramePr>
        <p:xfrm>
          <a:off x="8089900" y="1524000"/>
          <a:ext cx="3581400" cy="2861868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Intervention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Resources generated ([cur]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Added HHs ('000)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NRW reduction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339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Increased collection efficiency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192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Capex efficiency (unit cost)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91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Tariff reform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7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61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47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683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2" name="C502"/>
          <p:cNvSpPr/>
          <p:nvPr/>
        </p:nvSpPr>
        <p:spPr>
          <a:xfrm>
            <a:off x="8089900" y="4445000"/>
            <a:ext cx="3581400" cy="18034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00"/>
          </a:p>
        </p:txBody>
      </p:sp>
      <p:sp>
        <p:nvSpPr>
          <p:cNvPr id="503" name="T503"/>
          <p:cNvSpPr txBox="1"/>
          <p:nvPr/>
        </p:nvSpPr>
        <p:spPr>
          <a:xfrm>
            <a:off x="8255000" y="4521200"/>
            <a:ext cx="3251200" cy="1648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Which reforms are sequenced first, and why.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Institutional prerequisites for each.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Resources each reform unlocks.</a:t>
            </a:r>
          </a:p>
          <a:p>
            <a:pPr marL="0" indent="0"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12446000" y="1397000"/>
            <a:ext cx="3810000" cy="889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Prompt: chart values are illustrative placeholders populated by the tool.</a:t>
            </a:r>
          </a:p>
        </p:txBody>
      </p:sp>
    </p:spTree>
    <p:extLst>
      <p:ext uri="{BB962C8B-B14F-4D97-AF65-F5344CB8AC3E}">
        <p14:creationId xmlns:p14="http://schemas.microsoft.com/office/powerpoint/2010/main" val="3178702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[intervention name]: rural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C501"/>
          <p:cNvSpPr/>
          <p:nvPr/>
        </p:nvSpPr>
        <p:spPr>
          <a:xfrm>
            <a:off x="5207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2" name="T502"/>
          <p:cNvSpPr txBox="1"/>
          <p:nvPr/>
        </p:nvSpPr>
        <p:spPr>
          <a:xfrm>
            <a:off x="698500" y="1701800"/>
            <a:ext cx="3276600" cy="23673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Design and delivery</a:t>
            </a:r>
          </a:p>
          <a:p>
            <a:pPr marL="0" indent="0" algn="l">
              <a:lnSpc>
                <a:spcPct val="105000"/>
              </a:lnSpc>
              <a:spcAft>
                <a:spcPts val="22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[User input: describe the programme design — scope, phasing, geography, and the institutions responsible.]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Areas to be targeted</a:t>
            </a:r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[List the service areas, districts, or utility zones covered]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Implementing agencies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[Utility, regulator, line ministry, local government]</a:t>
            </a:r>
          </a:p>
        </p:txBody>
      </p:sp>
      <p:sp>
        <p:nvSpPr>
          <p:cNvPr id="503" name="C503"/>
          <p:cNvSpPr/>
          <p:nvPr/>
        </p:nvSpPr>
        <p:spPr>
          <a:xfrm>
            <a:off x="42799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4" name="T504"/>
          <p:cNvSpPr txBox="1"/>
          <p:nvPr/>
        </p:nvSpPr>
        <p:spPr>
          <a:xfrm>
            <a:off x="4457700" y="1701800"/>
            <a:ext cx="3276600" cy="2819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Costs and targets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Resources generated: [X] billion over [start year]–[end year]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Additional HHs served: [Y] thousand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Programme cost: [Z] billion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Baseline performance: [current value]</a:t>
            </a:r>
          </a:p>
          <a:p>
            <a:pPr marL="165000" indent="-165000" algn="l">
              <a:lnSpc>
                <a:spcPct val="105000"/>
              </a:lnSpc>
              <a:spcAft>
                <a:spcPts val="22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Target performance: [target value] by [year]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[User input: milestones and the action plan to secure approval — e.g. regulator sign-off for a tariff increase]</a:t>
            </a:r>
          </a:p>
        </p:txBody>
      </p:sp>
      <p:sp>
        <p:nvSpPr>
          <p:cNvPr id="505" name="C505"/>
          <p:cNvSpPr/>
          <p:nvPr/>
        </p:nvSpPr>
        <p:spPr>
          <a:xfrm>
            <a:off x="80391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6" name="T506"/>
          <p:cNvSpPr txBox="1"/>
          <p:nvPr/>
        </p:nvSpPr>
        <p:spPr>
          <a:xfrm>
            <a:off x="8216900" y="1701800"/>
            <a:ext cx="3276600" cy="32722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Evidence and benchmarks</a:t>
            </a:r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[User input: cite comparator utilities or countries that have achieved this level of performance, and the arrangements that made it possible — performance-based contracts, MDB support, corporatisation, concessions.]</a:t>
            </a:r>
          </a:p>
          <a:p>
            <a:pPr marL="165000" indent="-165000" algn="l">
              <a:lnSpc>
                <a:spcPct val="105000"/>
              </a:lnSpc>
              <a:spcAft>
                <a:spcPts val="120"/>
              </a:spcAft>
              <a:buFont typeface="Arial"/>
              <a:buChar char="•"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Benchmark 1: [utility, country] — [result, year]</a:t>
            </a:r>
          </a:p>
          <a:p>
            <a:pPr marL="165000" indent="-165000" algn="l">
              <a:lnSpc>
                <a:spcPct val="105000"/>
              </a:lnSpc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Benchmark 2: [utility, country] — [result, year]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Risks and mitigation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[Key delivery risks and how they will be managed]</a:t>
            </a:r>
          </a:p>
        </p:txBody>
      </p:sp>
      <p:sp>
        <p:nvSpPr>
          <p:cNvPr id="507" name="C507"/>
          <p:cNvSpPr/>
          <p:nvPr/>
        </p:nvSpPr>
        <p:spPr>
          <a:xfrm>
            <a:off x="12446000" y="1270000"/>
            <a:ext cx="3810000" cy="121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09CA7"/>
            </a:solidFill>
            <a:prstDash val="dash"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8" name="T508"/>
          <p:cNvSpPr txBox="1"/>
          <p:nvPr/>
        </p:nvSpPr>
        <p:spPr>
          <a:xfrm>
            <a:off x="12573000" y="1397000"/>
            <a:ext cx="3556000" cy="6684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Prompt: duplicate this slide for each intervention switched on in the tool, using the intervention names listed on slide 5.</a:t>
            </a:r>
          </a:p>
        </p:txBody>
      </p:sp>
    </p:spTree>
    <p:extLst>
      <p:ext uri="{BB962C8B-B14F-4D97-AF65-F5344CB8AC3E}">
        <p14:creationId xmlns:p14="http://schemas.microsoft.com/office/powerpoint/2010/main" val="2418356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Urban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C501"/>
          <p:cNvSpPr/>
          <p:nvPr/>
        </p:nvSpPr>
        <p:spPr>
          <a:xfrm>
            <a:off x="520700" y="1524000"/>
            <a:ext cx="11150600" cy="3810000"/>
          </a:xfrm>
          <a:prstGeom prst="roundRect">
            <a:avLst>
              <a:gd name="adj" fmla="val 3000"/>
            </a:avLst>
          </a:prstGeom>
          <a:solidFill>
            <a:srgbClr val="195B8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502" name="T502"/>
          <p:cNvSpPr txBox="1"/>
          <p:nvPr/>
        </p:nvSpPr>
        <p:spPr>
          <a:xfrm>
            <a:off x="889000" y="1905000"/>
            <a:ext cx="254000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0" b="1">
                <a:solidFill>
                  <a:srgbClr val="4CBAC1"/>
                </a:solidFill>
                <a:latin typeface="Open Sans"/>
                <a:ea typeface="Open Sans"/>
                <a:cs typeface="Open Sans"/>
              </a:rPr>
              <a:t>04</a:t>
            </a:r>
            <a:endParaRPr lang="en-US" sz="9000" b="1" dirty="0">
              <a:solidFill>
                <a:srgbClr val="4CBAC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03" name="T503"/>
          <p:cNvSpPr txBox="1"/>
          <p:nvPr/>
        </p:nvSpPr>
        <p:spPr>
          <a:xfrm>
            <a:off x="3810000" y="1905000"/>
            <a:ext cx="7366000" cy="965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Open Sans"/>
                <a:cs typeface="Open Sans"/>
              </a:rPr>
              <a:t>Urban sanitation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3810000" y="2971800"/>
            <a:ext cx="7366000" cy="218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b="1" dirty="0">
                <a:solidFill>
                  <a:srgbClr val="B2E1E3"/>
                </a:solidFill>
                <a:latin typeface="Open Sans"/>
                <a:cs typeface="Open Sans"/>
              </a:rPr>
              <a:t>Section contents: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Coverage and targets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Service gap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Investment gap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Interventions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Intervention details</a:t>
            </a:r>
          </a:p>
        </p:txBody>
      </p:sp>
    </p:spTree>
    <p:extLst>
      <p:ext uri="{BB962C8B-B14F-4D97-AF65-F5344CB8AC3E}">
        <p14:creationId xmlns:p14="http://schemas.microsoft.com/office/powerpoint/2010/main" val="341600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Coverage and targets: urban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T501"/>
          <p:cNvSpPr txBox="1"/>
          <p:nvPr/>
        </p:nvSpPr>
        <p:spPr>
          <a:xfrm>
            <a:off x="520700" y="1524000"/>
            <a:ext cx="74676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Urban sanitation service coverage, share of households</a:t>
            </a:r>
          </a:p>
        </p:txBody>
      </p:sp>
      <p:graphicFrame>
        <p:nvGraphicFramePr>
          <p:cNvPr id="502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921965"/>
              </p:ext>
            </p:extLst>
          </p:nvPr>
        </p:nvGraphicFramePr>
        <p:xfrm>
          <a:off x="520700" y="1854200"/>
          <a:ext cx="7467600" cy="3285676"/>
        </p:xfrm>
        <a:graphic>
          <a:graphicData uri="http://schemas.openxmlformats.org/drawingml/2006/table">
            <a:tbl>
              <a:tblPr firstRow="1"/>
              <a:tblGrid>
                <a:gridCol w="23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Service level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Actual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[first data year]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Actual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[baseline year]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Target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[first target year]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Target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[last target year]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Safely managed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30%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51%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75%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100%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D9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At least basic, excluding safely managed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45%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38%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20%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0%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Less than basic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25%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11%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5%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0%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 urban HHs ('000)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620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940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1,120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1,483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3" name="C503"/>
          <p:cNvSpPr/>
          <p:nvPr/>
        </p:nvSpPr>
        <p:spPr>
          <a:xfrm>
            <a:off x="8242300" y="1524000"/>
            <a:ext cx="3429000" cy="41148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4" name="T504"/>
          <p:cNvSpPr txBox="1"/>
          <p:nvPr/>
        </p:nvSpPr>
        <p:spPr>
          <a:xfrm>
            <a:off x="8420100" y="1676400"/>
            <a:ext cx="3073400" cy="3121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Coverage moved [X] households, [first year]–[baseline year].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Target implies [Y] a year, against [Z] achieved.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Who serves the unserved today, and on what terms.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Reforms, programmes, or shocks behind the trend.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Basis for the target.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8" name="T508"/>
          <p:cNvSpPr txBox="1"/>
          <p:nvPr/>
        </p:nvSpPr>
        <p:spPr>
          <a:xfrm>
            <a:off x="520700" y="5969000"/>
            <a:ext cx="111506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7A7A7A"/>
                </a:solidFill>
                <a:latin typeface="Open Sans"/>
                <a:cs typeface="Open Sans"/>
              </a:rPr>
              <a:t>Service levels follow the JMP service ladder (see Definitions). Figures are placeholders populated by the tool. Targets are drawn from [source of target].</a:t>
            </a:r>
          </a:p>
        </p:txBody>
      </p:sp>
    </p:spTree>
    <p:extLst>
      <p:ext uri="{BB962C8B-B14F-4D97-AF65-F5344CB8AC3E}">
        <p14:creationId xmlns:p14="http://schemas.microsoft.com/office/powerpoint/2010/main" val="2928281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Service gap: urban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801" name="Service gap chart"/>
          <p:cNvGraphicFramePr/>
          <p:nvPr>
            <p:extLst>
              <p:ext uri="{D42A27DB-BD31-4B8C-83A1-F6EECF244321}">
                <p14:modId xmlns:p14="http://schemas.microsoft.com/office/powerpoint/2010/main" val="4011063756"/>
              </p:ext>
            </p:extLst>
          </p:nvPr>
        </p:nvGraphicFramePr>
        <p:xfrm>
          <a:off x="520700" y="1524000"/>
          <a:ext cx="73152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1" name="C501"/>
          <p:cNvSpPr/>
          <p:nvPr/>
        </p:nvSpPr>
        <p:spPr>
          <a:xfrm>
            <a:off x="8039100" y="1524000"/>
            <a:ext cx="3632200" cy="4191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2" name="T502"/>
          <p:cNvSpPr txBox="1"/>
          <p:nvPr/>
        </p:nvSpPr>
        <p:spPr>
          <a:xfrm>
            <a:off x="8216900" y="1701800"/>
            <a:ext cx="3276600" cy="3121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[X] households remain unserved at [baseline year].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On current trends the [target year] gap is [Y] households.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Which service levels drive most of the gap.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Population growth versus new connections.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Where the gap is concentrated geographically.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5" name="T505"/>
          <p:cNvSpPr txBox="1"/>
          <p:nvPr/>
        </p:nvSpPr>
        <p:spPr>
          <a:xfrm>
            <a:off x="520700" y="5969000"/>
            <a:ext cx="111506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7A7A7A"/>
                </a:solidFill>
                <a:latin typeface="Open Sans"/>
                <a:cs typeface="Open Sans"/>
              </a:rPr>
              <a:t>Note: the service gap is the difference between the households required to meet the target and those forecast to be covered under BAU. Figures are placeholders populated by the tool.</a:t>
            </a:r>
          </a:p>
        </p:txBody>
      </p:sp>
    </p:spTree>
    <p:extLst>
      <p:ext uri="{BB962C8B-B14F-4D97-AF65-F5344CB8AC3E}">
        <p14:creationId xmlns:p14="http://schemas.microsoft.com/office/powerpoint/2010/main" val="1345854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Investment gap: urban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501" name="Table 5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319277"/>
              </p:ext>
            </p:extLst>
          </p:nvPr>
        </p:nvGraphicFramePr>
        <p:xfrm>
          <a:off x="520700" y="1524000"/>
          <a:ext cx="11150600" cy="2524184"/>
        </p:xfrm>
        <a:graphic>
          <a:graphicData uri="http://schemas.openxmlformats.org/drawingml/2006/table">
            <a:tbl>
              <a:tblPr firstRow="1"/>
              <a:tblGrid>
                <a:gridCol w="302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Urban sanitation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1]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1]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2]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2]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Investment needed for new HHs (A)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180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1,350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420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3,150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4,500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Replacement capex needed (B)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120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1,200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Investment needed (C = A + B)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220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1,650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540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4,050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760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5,700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BAU investment (D)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450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130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975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190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1,425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Investment gap (C − D)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160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1,200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410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3,075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570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4,275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2" name="C502"/>
          <p:cNvSpPr/>
          <p:nvPr/>
        </p:nvSpPr>
        <p:spPr>
          <a:xfrm>
            <a:off x="520700" y="4191000"/>
            <a:ext cx="11150600" cy="19685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3" name="T503"/>
          <p:cNvSpPr txBox="1"/>
          <p:nvPr/>
        </p:nvSpPr>
        <p:spPr>
          <a:xfrm>
            <a:off x="698500" y="4318000"/>
            <a:ext cx="10795000" cy="17128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Total investment need of [X] billion to [target year]; current spending covers about [Y]%.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Split between capital works and ongoing operating subsidy.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Where the financing gap is most binding, and who could close it.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Assumptions the estimate is most sensitive to.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</p:spTree>
    <p:extLst>
      <p:ext uri="{BB962C8B-B14F-4D97-AF65-F5344CB8AC3E}">
        <p14:creationId xmlns:p14="http://schemas.microsoft.com/office/powerpoint/2010/main" val="1019794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Interventions: urban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801" name="Fan chart"/>
          <p:cNvGraphicFramePr/>
          <p:nvPr>
            <p:extLst>
              <p:ext uri="{D42A27DB-BD31-4B8C-83A1-F6EECF244321}">
                <p14:modId xmlns:p14="http://schemas.microsoft.com/office/powerpoint/2010/main" val="3026917372"/>
              </p:ext>
            </p:extLst>
          </p:nvPr>
        </p:nvGraphicFramePr>
        <p:xfrm>
          <a:off x="520700" y="1524000"/>
          <a:ext cx="7366000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01" name="Table 5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785088"/>
              </p:ext>
            </p:extLst>
          </p:nvPr>
        </p:nvGraphicFramePr>
        <p:xfrm>
          <a:off x="8089900" y="1524000"/>
          <a:ext cx="3581400" cy="2861868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Intervention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Resources generated ([cur]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Added HHs ('000)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Increased collection efficiency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339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Budget execution improvement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192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Tariff reform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91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Microfinance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7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61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47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683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2" name="C502"/>
          <p:cNvSpPr/>
          <p:nvPr/>
        </p:nvSpPr>
        <p:spPr>
          <a:xfrm>
            <a:off x="8089900" y="4445000"/>
            <a:ext cx="3581400" cy="18034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00"/>
          </a:p>
        </p:txBody>
      </p:sp>
      <p:sp>
        <p:nvSpPr>
          <p:cNvPr id="503" name="T503"/>
          <p:cNvSpPr txBox="1"/>
          <p:nvPr/>
        </p:nvSpPr>
        <p:spPr>
          <a:xfrm>
            <a:off x="8255000" y="4521200"/>
            <a:ext cx="3251200" cy="1648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Which reforms are sequenced first, and why.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Institutional prerequisites for each.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Resources each reform unlocks.</a:t>
            </a:r>
          </a:p>
          <a:p>
            <a:pPr marL="0" indent="0"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12446000" y="1397000"/>
            <a:ext cx="3810000" cy="889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Prompt: chart values are illustrative placeholders populated by the tool.</a:t>
            </a:r>
          </a:p>
        </p:txBody>
      </p:sp>
    </p:spTree>
    <p:extLst>
      <p:ext uri="{BB962C8B-B14F-4D97-AF65-F5344CB8AC3E}">
        <p14:creationId xmlns:p14="http://schemas.microsoft.com/office/powerpoint/2010/main" val="1407904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[intervention name]: urban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C501"/>
          <p:cNvSpPr/>
          <p:nvPr/>
        </p:nvSpPr>
        <p:spPr>
          <a:xfrm>
            <a:off x="5207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2" name="T502"/>
          <p:cNvSpPr txBox="1"/>
          <p:nvPr/>
        </p:nvSpPr>
        <p:spPr>
          <a:xfrm>
            <a:off x="698500" y="1701800"/>
            <a:ext cx="3276600" cy="23673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Design and delivery</a:t>
            </a:r>
          </a:p>
          <a:p>
            <a:pPr marL="0" indent="0" algn="l">
              <a:lnSpc>
                <a:spcPct val="105000"/>
              </a:lnSpc>
              <a:spcAft>
                <a:spcPts val="22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[User input: describe the programme design — scope, phasing, geography, and the institutions responsible.]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Areas to be targeted</a:t>
            </a:r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[List the service areas, districts, or utility zones covered]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Implementing agencies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[Utility, regulator, line ministry, local government]</a:t>
            </a:r>
          </a:p>
        </p:txBody>
      </p:sp>
      <p:sp>
        <p:nvSpPr>
          <p:cNvPr id="503" name="C503"/>
          <p:cNvSpPr/>
          <p:nvPr/>
        </p:nvSpPr>
        <p:spPr>
          <a:xfrm>
            <a:off x="42799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4" name="T504"/>
          <p:cNvSpPr txBox="1"/>
          <p:nvPr/>
        </p:nvSpPr>
        <p:spPr>
          <a:xfrm>
            <a:off x="4457700" y="1701800"/>
            <a:ext cx="3276600" cy="2819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Costs and targets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Resources generated: [X] billion over [start year]–[end year]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Additional HHs served: [Y] thousand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Programme cost: [Z] billion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Baseline performance: [current value]</a:t>
            </a:r>
          </a:p>
          <a:p>
            <a:pPr marL="165000" indent="-165000" algn="l">
              <a:lnSpc>
                <a:spcPct val="105000"/>
              </a:lnSpc>
              <a:spcAft>
                <a:spcPts val="22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Target performance: [target value] by [year]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[User input: milestones and the action plan to secure approval — e.g. regulator sign-off for a tariff increase]</a:t>
            </a:r>
          </a:p>
        </p:txBody>
      </p:sp>
      <p:sp>
        <p:nvSpPr>
          <p:cNvPr id="505" name="C505"/>
          <p:cNvSpPr/>
          <p:nvPr/>
        </p:nvSpPr>
        <p:spPr>
          <a:xfrm>
            <a:off x="80391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6" name="T506"/>
          <p:cNvSpPr txBox="1"/>
          <p:nvPr/>
        </p:nvSpPr>
        <p:spPr>
          <a:xfrm>
            <a:off x="8216900" y="1701800"/>
            <a:ext cx="3276600" cy="32722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Evidence and benchmarks</a:t>
            </a:r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[User input: cite comparator utilities or countries that have achieved this level of performance, and the arrangements that made it possible — performance-based contracts, MDB support, corporatisation, concessions.]</a:t>
            </a:r>
          </a:p>
          <a:p>
            <a:pPr marL="165000" indent="-165000" algn="l">
              <a:lnSpc>
                <a:spcPct val="105000"/>
              </a:lnSpc>
              <a:spcAft>
                <a:spcPts val="120"/>
              </a:spcAft>
              <a:buFont typeface="Arial"/>
              <a:buChar char="•"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Benchmark 1: [utility, country] — [result, year]</a:t>
            </a:r>
          </a:p>
          <a:p>
            <a:pPr marL="165000" indent="-165000" algn="l">
              <a:lnSpc>
                <a:spcPct val="105000"/>
              </a:lnSpc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Benchmark 2: [utility, country] — [result, year]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Risks and mitigation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[Key delivery risks and how they will be managed]</a:t>
            </a:r>
          </a:p>
        </p:txBody>
      </p:sp>
      <p:sp>
        <p:nvSpPr>
          <p:cNvPr id="507" name="C507"/>
          <p:cNvSpPr/>
          <p:nvPr/>
        </p:nvSpPr>
        <p:spPr>
          <a:xfrm>
            <a:off x="12446000" y="1270000"/>
            <a:ext cx="3810000" cy="121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09CA7"/>
            </a:solidFill>
            <a:prstDash val="dash"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8" name="T508"/>
          <p:cNvSpPr txBox="1"/>
          <p:nvPr/>
        </p:nvSpPr>
        <p:spPr>
          <a:xfrm>
            <a:off x="12573000" y="1397000"/>
            <a:ext cx="3556000" cy="6684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Prompt: duplicate this slide for each intervention switched on in the tool, using the intervention names listed on slide 5.</a:t>
            </a:r>
          </a:p>
        </p:txBody>
      </p:sp>
    </p:spTree>
    <p:extLst>
      <p:ext uri="{BB962C8B-B14F-4D97-AF65-F5344CB8AC3E}">
        <p14:creationId xmlns:p14="http://schemas.microsoft.com/office/powerpoint/2010/main" val="1790691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Rural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C501"/>
          <p:cNvSpPr/>
          <p:nvPr/>
        </p:nvSpPr>
        <p:spPr>
          <a:xfrm>
            <a:off x="520700" y="1524000"/>
            <a:ext cx="11150600" cy="3810000"/>
          </a:xfrm>
          <a:prstGeom prst="roundRect">
            <a:avLst>
              <a:gd name="adj" fmla="val 3000"/>
            </a:avLst>
          </a:prstGeom>
          <a:solidFill>
            <a:srgbClr val="195B8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502" name="T502"/>
          <p:cNvSpPr txBox="1"/>
          <p:nvPr/>
        </p:nvSpPr>
        <p:spPr>
          <a:xfrm>
            <a:off x="889000" y="1905000"/>
            <a:ext cx="254000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0" b="1">
                <a:solidFill>
                  <a:srgbClr val="4CBAC1"/>
                </a:solidFill>
                <a:latin typeface="Open Sans"/>
                <a:ea typeface="Open Sans"/>
                <a:cs typeface="Open Sans"/>
              </a:rPr>
              <a:t>05</a:t>
            </a:r>
            <a:endParaRPr lang="en-US" sz="9000" b="1" dirty="0">
              <a:solidFill>
                <a:srgbClr val="4CBAC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03" name="T503"/>
          <p:cNvSpPr txBox="1"/>
          <p:nvPr/>
        </p:nvSpPr>
        <p:spPr>
          <a:xfrm>
            <a:off x="3810000" y="1905000"/>
            <a:ext cx="7366000" cy="965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Open Sans"/>
                <a:cs typeface="Open Sans"/>
              </a:rPr>
              <a:t>Rural sanitation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3810000" y="2971800"/>
            <a:ext cx="7366000" cy="218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b="1" dirty="0">
                <a:solidFill>
                  <a:srgbClr val="B2E1E3"/>
                </a:solidFill>
                <a:latin typeface="Open Sans"/>
                <a:cs typeface="Open Sans"/>
              </a:rPr>
              <a:t>Section contents: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Coverage and targets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Service gap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Investment gap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Interventions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Intervention details</a:t>
            </a:r>
          </a:p>
        </p:txBody>
      </p:sp>
    </p:spTree>
    <p:extLst>
      <p:ext uri="{BB962C8B-B14F-4D97-AF65-F5344CB8AC3E}">
        <p14:creationId xmlns:p14="http://schemas.microsoft.com/office/powerpoint/2010/main" val="14338905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Coverage and targets: rural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T501"/>
          <p:cNvSpPr txBox="1"/>
          <p:nvPr/>
        </p:nvSpPr>
        <p:spPr>
          <a:xfrm>
            <a:off x="520700" y="1524000"/>
            <a:ext cx="74676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Rural sanitation service coverage, share of households</a:t>
            </a:r>
          </a:p>
        </p:txBody>
      </p:sp>
      <p:graphicFrame>
        <p:nvGraphicFramePr>
          <p:cNvPr id="502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772153"/>
              </p:ext>
            </p:extLst>
          </p:nvPr>
        </p:nvGraphicFramePr>
        <p:xfrm>
          <a:off x="520700" y="1854200"/>
          <a:ext cx="7467600" cy="3895276"/>
        </p:xfrm>
        <a:graphic>
          <a:graphicData uri="http://schemas.openxmlformats.org/drawingml/2006/table">
            <a:tbl>
              <a:tblPr firstRow="1"/>
              <a:tblGrid>
                <a:gridCol w="23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Service level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Actual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[first data year]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Actual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[baseline year]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Target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[first target year]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Target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[last target year]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Safely managed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30%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51%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75%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100%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D9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At least basic, excluding safely managed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45%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38%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20%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0%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Less than basic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25%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11%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5%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0%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 rural HHs ('000)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620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940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1,120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1,483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3" name="C503"/>
          <p:cNvSpPr/>
          <p:nvPr/>
        </p:nvSpPr>
        <p:spPr>
          <a:xfrm>
            <a:off x="8242300" y="1524000"/>
            <a:ext cx="3429000" cy="41148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4" name="T504"/>
          <p:cNvSpPr txBox="1"/>
          <p:nvPr/>
        </p:nvSpPr>
        <p:spPr>
          <a:xfrm>
            <a:off x="8420100" y="1676400"/>
            <a:ext cx="3073400" cy="3121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Coverage moved [X] households, [first year]–[baseline year].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Target implies [Y] a year, against [Z] achieved.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Who serves the unserved today, and on what terms.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Reforms, programmes, or shocks behind the trend.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Basis for the target.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8" name="T508"/>
          <p:cNvSpPr txBox="1"/>
          <p:nvPr/>
        </p:nvSpPr>
        <p:spPr>
          <a:xfrm>
            <a:off x="520700" y="5969000"/>
            <a:ext cx="111506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7A7A7A"/>
                </a:solidFill>
                <a:latin typeface="Open Sans"/>
                <a:cs typeface="Open Sans"/>
              </a:rPr>
              <a:t>Service levels follow the JMP service ladder (see Definitions). Figures are placeholders populated by the tool. Targets are drawn from [source of target].</a:t>
            </a:r>
          </a:p>
        </p:txBody>
      </p:sp>
    </p:spTree>
    <p:extLst>
      <p:ext uri="{BB962C8B-B14F-4D97-AF65-F5344CB8AC3E}">
        <p14:creationId xmlns:p14="http://schemas.microsoft.com/office/powerpoint/2010/main" val="2574005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Service gap: rural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801" name="Service gap chart"/>
          <p:cNvGraphicFramePr/>
          <p:nvPr>
            <p:extLst>
              <p:ext uri="{D42A27DB-BD31-4B8C-83A1-F6EECF244321}">
                <p14:modId xmlns:p14="http://schemas.microsoft.com/office/powerpoint/2010/main" val="2080066751"/>
              </p:ext>
            </p:extLst>
          </p:nvPr>
        </p:nvGraphicFramePr>
        <p:xfrm>
          <a:off x="520700" y="1524000"/>
          <a:ext cx="73152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1" name="C501"/>
          <p:cNvSpPr/>
          <p:nvPr/>
        </p:nvSpPr>
        <p:spPr>
          <a:xfrm>
            <a:off x="8039100" y="1524000"/>
            <a:ext cx="3632200" cy="4191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2" name="T502"/>
          <p:cNvSpPr txBox="1"/>
          <p:nvPr/>
        </p:nvSpPr>
        <p:spPr>
          <a:xfrm>
            <a:off x="8216900" y="1701800"/>
            <a:ext cx="3276600" cy="3121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[X] households remain unserved at [baseline year].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On current trends the [target year] gap is [Y] households.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Which service levels drive most of the gap.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Population growth versus new connections.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Where the gap is concentrated geographically.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5" name="T505"/>
          <p:cNvSpPr txBox="1"/>
          <p:nvPr/>
        </p:nvSpPr>
        <p:spPr>
          <a:xfrm>
            <a:off x="520700" y="5969000"/>
            <a:ext cx="111506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7A7A7A"/>
                </a:solidFill>
                <a:latin typeface="Open Sans"/>
                <a:cs typeface="Open Sans"/>
              </a:rPr>
              <a:t>Note: the service gap is the difference between the households required to meet the target and those forecast to be covered under BAU. Figures are placeholders populated by the tool.</a:t>
            </a:r>
          </a:p>
        </p:txBody>
      </p:sp>
    </p:spTree>
    <p:extLst>
      <p:ext uri="{BB962C8B-B14F-4D97-AF65-F5344CB8AC3E}">
        <p14:creationId xmlns:p14="http://schemas.microsoft.com/office/powerpoint/2010/main" val="749514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Investment gap: rural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501" name="Table 5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484569"/>
              </p:ext>
            </p:extLst>
          </p:nvPr>
        </p:nvGraphicFramePr>
        <p:xfrm>
          <a:off x="520700" y="1524000"/>
          <a:ext cx="11150600" cy="2524184"/>
        </p:xfrm>
        <a:graphic>
          <a:graphicData uri="http://schemas.openxmlformats.org/drawingml/2006/table">
            <a:tbl>
              <a:tblPr firstRow="1"/>
              <a:tblGrid>
                <a:gridCol w="302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Rural sanitation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1]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1]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2]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2]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Investment needed for new HHs (A)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180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1,350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420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3,150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4,500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Replacement capex needed (B)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120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1,200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Investment needed (C = A +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220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1,650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540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4,050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760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5,700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BAU investment (D)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450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130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975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190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1,425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Investment gap (C − D)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160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1,200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410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3,075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570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4,275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2" name="C502"/>
          <p:cNvSpPr/>
          <p:nvPr/>
        </p:nvSpPr>
        <p:spPr>
          <a:xfrm>
            <a:off x="520700" y="4191000"/>
            <a:ext cx="11150600" cy="19685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3" name="T503"/>
          <p:cNvSpPr txBox="1"/>
          <p:nvPr/>
        </p:nvSpPr>
        <p:spPr>
          <a:xfrm>
            <a:off x="698500" y="4318000"/>
            <a:ext cx="10795000" cy="17128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Total investment need of [X] billion to [target year]; current spending covers about [Y]%.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Split between capital works and ongoing operating subsidy.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Where the financing gap is most binding, and who could close it.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Assumptions the estimate is most sensitive to.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</p:spTree>
    <p:extLst>
      <p:ext uri="{BB962C8B-B14F-4D97-AF65-F5344CB8AC3E}">
        <p14:creationId xmlns:p14="http://schemas.microsoft.com/office/powerpoint/2010/main" val="37493740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Interventions: rural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801" name="Fan chart"/>
          <p:cNvGraphicFramePr/>
          <p:nvPr>
            <p:extLst>
              <p:ext uri="{D42A27DB-BD31-4B8C-83A1-F6EECF244321}">
                <p14:modId xmlns:p14="http://schemas.microsoft.com/office/powerpoint/2010/main" val="628803183"/>
              </p:ext>
            </p:extLst>
          </p:nvPr>
        </p:nvGraphicFramePr>
        <p:xfrm>
          <a:off x="520700" y="1524000"/>
          <a:ext cx="7366000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01" name="Table 5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387310"/>
              </p:ext>
            </p:extLst>
          </p:nvPr>
        </p:nvGraphicFramePr>
        <p:xfrm>
          <a:off x="8089900" y="1524000"/>
          <a:ext cx="3581400" cy="3031676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Intervention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Resources generated ([cur]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Added HHs ('000)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Increased collection efficiency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339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Budget execution improvement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192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Tariff reform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91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Microfinance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7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61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47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683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2" name="C502"/>
          <p:cNvSpPr/>
          <p:nvPr/>
        </p:nvSpPr>
        <p:spPr>
          <a:xfrm>
            <a:off x="8089900" y="4445000"/>
            <a:ext cx="3581400" cy="18034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00"/>
          </a:p>
        </p:txBody>
      </p:sp>
      <p:sp>
        <p:nvSpPr>
          <p:cNvPr id="503" name="T503"/>
          <p:cNvSpPr txBox="1"/>
          <p:nvPr/>
        </p:nvSpPr>
        <p:spPr>
          <a:xfrm>
            <a:off x="8255000" y="4521200"/>
            <a:ext cx="3251200" cy="1648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Which reforms are sequenced first, and why.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Institutional prerequisites for each.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Resources each reform unlocks.</a:t>
            </a:r>
          </a:p>
          <a:p>
            <a:pPr marL="0" indent="0"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12446000" y="1397000"/>
            <a:ext cx="3810000" cy="889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Prompt: chart values are illustrative placeholders populated by the tool.</a:t>
            </a:r>
          </a:p>
        </p:txBody>
      </p:sp>
    </p:spTree>
    <p:extLst>
      <p:ext uri="{BB962C8B-B14F-4D97-AF65-F5344CB8AC3E}">
        <p14:creationId xmlns:p14="http://schemas.microsoft.com/office/powerpoint/2010/main" val="3668332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[intervention name]: rural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C501"/>
          <p:cNvSpPr/>
          <p:nvPr/>
        </p:nvSpPr>
        <p:spPr>
          <a:xfrm>
            <a:off x="5207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2" name="T502"/>
          <p:cNvSpPr txBox="1"/>
          <p:nvPr/>
        </p:nvSpPr>
        <p:spPr>
          <a:xfrm>
            <a:off x="698500" y="1701800"/>
            <a:ext cx="3276600" cy="23673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Design and delivery</a:t>
            </a:r>
          </a:p>
          <a:p>
            <a:pPr marL="0" indent="0" algn="l">
              <a:lnSpc>
                <a:spcPct val="105000"/>
              </a:lnSpc>
              <a:spcAft>
                <a:spcPts val="22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[User input: describe the programme design — scope, phasing, geography, and the institutions responsible.]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Areas to be targeted</a:t>
            </a:r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[List the service areas, districts, or utility zones covered]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Implementing agencies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[Utility, regulator, line ministry, local government]</a:t>
            </a:r>
          </a:p>
        </p:txBody>
      </p:sp>
      <p:sp>
        <p:nvSpPr>
          <p:cNvPr id="503" name="C503"/>
          <p:cNvSpPr/>
          <p:nvPr/>
        </p:nvSpPr>
        <p:spPr>
          <a:xfrm>
            <a:off x="42799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4" name="T504"/>
          <p:cNvSpPr txBox="1"/>
          <p:nvPr/>
        </p:nvSpPr>
        <p:spPr>
          <a:xfrm>
            <a:off x="4457700" y="1701800"/>
            <a:ext cx="3276600" cy="2819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Costs and targets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Resources generated: [X] billion over [start year]–[end year]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Additional HHs served: [Y] thousand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Programme cost: [Z] billion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Baseline performance: [current value]</a:t>
            </a:r>
          </a:p>
          <a:p>
            <a:pPr marL="165000" indent="-165000" algn="l">
              <a:lnSpc>
                <a:spcPct val="105000"/>
              </a:lnSpc>
              <a:spcAft>
                <a:spcPts val="22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Target performance: [target value] by [year]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[User input: milestones and the action plan to secure approval — e.g. regulator sign-off for a tariff increase]</a:t>
            </a:r>
          </a:p>
        </p:txBody>
      </p:sp>
      <p:sp>
        <p:nvSpPr>
          <p:cNvPr id="505" name="C505"/>
          <p:cNvSpPr/>
          <p:nvPr/>
        </p:nvSpPr>
        <p:spPr>
          <a:xfrm>
            <a:off x="80391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6" name="T506"/>
          <p:cNvSpPr txBox="1"/>
          <p:nvPr/>
        </p:nvSpPr>
        <p:spPr>
          <a:xfrm>
            <a:off x="8216900" y="1701800"/>
            <a:ext cx="3276600" cy="32722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Evidence and benchmarks</a:t>
            </a:r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[User input: cite comparator utilities or countries that have achieved this level of performance, and the arrangements that made it possible — performance-based contracts, MDB support, corporatisation, concessions.]</a:t>
            </a:r>
          </a:p>
          <a:p>
            <a:pPr marL="165000" indent="-165000" algn="l">
              <a:lnSpc>
                <a:spcPct val="105000"/>
              </a:lnSpc>
              <a:spcAft>
                <a:spcPts val="120"/>
              </a:spcAft>
              <a:buFont typeface="Arial"/>
              <a:buChar char="•"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Benchmark 1: [utility, country] — [result, year]</a:t>
            </a:r>
          </a:p>
          <a:p>
            <a:pPr marL="165000" indent="-165000" algn="l">
              <a:lnSpc>
                <a:spcPct val="105000"/>
              </a:lnSpc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Benchmark 2: [utility, country] — [result, year]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Risks and mitigation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[Key delivery risks and how they will be managed]</a:t>
            </a:r>
          </a:p>
        </p:txBody>
      </p:sp>
      <p:sp>
        <p:nvSpPr>
          <p:cNvPr id="507" name="C507"/>
          <p:cNvSpPr/>
          <p:nvPr/>
        </p:nvSpPr>
        <p:spPr>
          <a:xfrm>
            <a:off x="12446000" y="1270000"/>
            <a:ext cx="3810000" cy="121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09CA7"/>
            </a:solidFill>
            <a:prstDash val="dash"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8" name="T508"/>
          <p:cNvSpPr txBox="1"/>
          <p:nvPr/>
        </p:nvSpPr>
        <p:spPr>
          <a:xfrm>
            <a:off x="12573000" y="1397000"/>
            <a:ext cx="3556000" cy="6684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Prompt: duplicate this slide for each intervention switched on in the tool, using the intervention names listed on slide 5.</a:t>
            </a:r>
          </a:p>
        </p:txBody>
      </p:sp>
    </p:spTree>
    <p:extLst>
      <p:ext uri="{BB962C8B-B14F-4D97-AF65-F5344CB8AC3E}">
        <p14:creationId xmlns:p14="http://schemas.microsoft.com/office/powerpoint/2010/main" val="1199580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National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C501"/>
          <p:cNvSpPr/>
          <p:nvPr/>
        </p:nvSpPr>
        <p:spPr>
          <a:xfrm>
            <a:off x="520700" y="1524000"/>
            <a:ext cx="11150600" cy="3810000"/>
          </a:xfrm>
          <a:prstGeom prst="roundRect">
            <a:avLst>
              <a:gd name="adj" fmla="val 3000"/>
            </a:avLst>
          </a:prstGeom>
          <a:solidFill>
            <a:srgbClr val="195B8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502" name="T502"/>
          <p:cNvSpPr txBox="1"/>
          <p:nvPr/>
        </p:nvSpPr>
        <p:spPr>
          <a:xfrm>
            <a:off x="889000" y="1905000"/>
            <a:ext cx="254000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0" b="1">
                <a:solidFill>
                  <a:srgbClr val="4CBAC1"/>
                </a:solidFill>
                <a:latin typeface="Open Sans"/>
                <a:ea typeface="Open Sans"/>
                <a:cs typeface="Open Sans"/>
              </a:rPr>
              <a:t>06</a:t>
            </a:r>
            <a:endParaRPr lang="en-US" sz="9000" b="1" dirty="0">
              <a:solidFill>
                <a:srgbClr val="4CBAC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03" name="T503"/>
          <p:cNvSpPr txBox="1"/>
          <p:nvPr/>
        </p:nvSpPr>
        <p:spPr>
          <a:xfrm>
            <a:off x="3810000" y="1905000"/>
            <a:ext cx="7366000" cy="965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Open Sans"/>
                <a:cs typeface="Open Sans"/>
              </a:rPr>
              <a:t>National water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3810000" y="2971800"/>
            <a:ext cx="7366000" cy="218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sz="1400" b="1" dirty="0">
                <a:solidFill>
                  <a:srgbClr val="B2E1E3"/>
                </a:solidFill>
                <a:latin typeface="Open Sans"/>
                <a:cs typeface="Open Sans"/>
              </a:rPr>
              <a:t>Section contents: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Open Sans"/>
                <a:cs typeface="Open Sans"/>
              </a:rPr>
              <a:t>Coverage and targets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Open Sans"/>
                <a:cs typeface="Open Sans"/>
              </a:rPr>
              <a:t>Service gap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Open Sans"/>
                <a:cs typeface="Open Sans"/>
              </a:rPr>
              <a:t>Investment gap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Open Sans"/>
                <a:cs typeface="Open Sans"/>
              </a:rPr>
              <a:t>Interventions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Open Sans"/>
                <a:cs typeface="Open Sans"/>
              </a:rPr>
              <a:t>Intervention details</a:t>
            </a:r>
          </a:p>
        </p:txBody>
      </p:sp>
    </p:spTree>
    <p:extLst>
      <p:ext uri="{BB962C8B-B14F-4D97-AF65-F5344CB8AC3E}">
        <p14:creationId xmlns:p14="http://schemas.microsoft.com/office/powerpoint/2010/main" val="192540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Coverage and targets: national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T501"/>
          <p:cNvSpPr txBox="1"/>
          <p:nvPr/>
        </p:nvSpPr>
        <p:spPr>
          <a:xfrm>
            <a:off x="520700" y="1524000"/>
            <a:ext cx="74676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National water service coverage, share of households</a:t>
            </a:r>
          </a:p>
        </p:txBody>
      </p:sp>
      <p:graphicFrame>
        <p:nvGraphicFramePr>
          <p:cNvPr id="502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168238"/>
              </p:ext>
            </p:extLst>
          </p:nvPr>
        </p:nvGraphicFramePr>
        <p:xfrm>
          <a:off x="520700" y="1854200"/>
          <a:ext cx="7467600" cy="3895276"/>
        </p:xfrm>
        <a:graphic>
          <a:graphicData uri="http://schemas.openxmlformats.org/drawingml/2006/table">
            <a:tbl>
              <a:tblPr firstRow="1"/>
              <a:tblGrid>
                <a:gridCol w="23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Service level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Actual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[first data year]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Actual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[baseline year]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Target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[first target year]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Target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[last target year]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Safely managed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51%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75%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100%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At least basic, excluding safely managed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45%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38%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20%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Less than basic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25%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11%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5%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0%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 households ('000)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620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940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1,120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1,483</a:t>
                      </a:r>
                    </a:p>
                  </a:txBody>
                  <a:tcPr marL="45720" marR="45720" marT="18000" marB="18000" anchor="ctr">
                    <a:lnL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3" name="C503"/>
          <p:cNvSpPr/>
          <p:nvPr/>
        </p:nvSpPr>
        <p:spPr>
          <a:xfrm>
            <a:off x="8242300" y="1524000"/>
            <a:ext cx="3429000" cy="41148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4" name="T504"/>
          <p:cNvSpPr txBox="1"/>
          <p:nvPr/>
        </p:nvSpPr>
        <p:spPr>
          <a:xfrm>
            <a:off x="8420100" y="1676400"/>
            <a:ext cx="3073400" cy="3121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Coverage moved [X] households, [first year]–[baseline year].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Target implies [Y] a year, against [Z] achieved.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Who serves the unserved today, and on what terms.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Reforms, programmes, or shocks behind the trend.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Basis for the target.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8" name="T508"/>
          <p:cNvSpPr txBox="1"/>
          <p:nvPr/>
        </p:nvSpPr>
        <p:spPr>
          <a:xfrm>
            <a:off x="520700" y="5969000"/>
            <a:ext cx="111506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7A7A7A"/>
                </a:solidFill>
                <a:latin typeface="Open Sans"/>
                <a:cs typeface="Open Sans"/>
              </a:rPr>
              <a:t>National figures are the household-weighted aggregate of the urban and rural results. Service levels follow the JMP service ladder (see Definitions). Targets are drawn from [source of target].</a:t>
            </a:r>
          </a:p>
        </p:txBody>
      </p:sp>
    </p:spTree>
    <p:extLst>
      <p:ext uri="{BB962C8B-B14F-4D97-AF65-F5344CB8AC3E}">
        <p14:creationId xmlns:p14="http://schemas.microsoft.com/office/powerpoint/2010/main" val="14355199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Service gap: national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801" name="Service gap chart"/>
          <p:cNvGraphicFramePr/>
          <p:nvPr>
            <p:extLst>
              <p:ext uri="{D42A27DB-BD31-4B8C-83A1-F6EECF244321}">
                <p14:modId xmlns:p14="http://schemas.microsoft.com/office/powerpoint/2010/main" val="2031025053"/>
              </p:ext>
            </p:extLst>
          </p:nvPr>
        </p:nvGraphicFramePr>
        <p:xfrm>
          <a:off x="520700" y="1524000"/>
          <a:ext cx="73152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1" name="C501"/>
          <p:cNvSpPr/>
          <p:nvPr/>
        </p:nvSpPr>
        <p:spPr>
          <a:xfrm>
            <a:off x="8039100" y="1524000"/>
            <a:ext cx="3632200" cy="4191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2" name="T502"/>
          <p:cNvSpPr txBox="1"/>
          <p:nvPr/>
        </p:nvSpPr>
        <p:spPr>
          <a:xfrm>
            <a:off x="8216900" y="1701800"/>
            <a:ext cx="3276600" cy="3121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[X] households remain unserved at [baseline year].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On current trends the [target year] gap is [Y] households.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Which service levels drive most of the gap.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Population growth versus new connections.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Where the gap is concentrated geographically.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5" name="T505"/>
          <p:cNvSpPr txBox="1"/>
          <p:nvPr/>
        </p:nvSpPr>
        <p:spPr>
          <a:xfrm>
            <a:off x="520700" y="5969000"/>
            <a:ext cx="111506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7A7A7A"/>
                </a:solidFill>
                <a:latin typeface="Open Sans"/>
                <a:cs typeface="Open Sans"/>
              </a:rPr>
              <a:t>Note: the service gap is the difference between the households required to meet the target and those forecast to be covered under BAU. Figures are placeholders populated by the tool.</a:t>
            </a:r>
          </a:p>
        </p:txBody>
      </p:sp>
    </p:spTree>
    <p:extLst>
      <p:ext uri="{BB962C8B-B14F-4D97-AF65-F5344CB8AC3E}">
        <p14:creationId xmlns:p14="http://schemas.microsoft.com/office/powerpoint/2010/main" val="757860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Investment gap: national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501" name="Table 5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657400"/>
              </p:ext>
            </p:extLst>
          </p:nvPr>
        </p:nvGraphicFramePr>
        <p:xfrm>
          <a:off x="520700" y="1524000"/>
          <a:ext cx="11150600" cy="2524184"/>
        </p:xfrm>
        <a:graphic>
          <a:graphicData uri="http://schemas.openxmlformats.org/drawingml/2006/table">
            <a:tbl>
              <a:tblPr firstRow="1"/>
              <a:tblGrid>
                <a:gridCol w="302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National water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1]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1]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2]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2]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Investment needed for new HHs (A)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180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1,350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420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3,150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4,500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Replacement capex needed (B)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120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1,200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Investment needed (C = A +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220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1,650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540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4,050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760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5,700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BAU investment (D)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450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130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975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190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1,425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Investment gap (C − D)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160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1,200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410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3,075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570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4,275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2" name="C502"/>
          <p:cNvSpPr/>
          <p:nvPr/>
        </p:nvSpPr>
        <p:spPr>
          <a:xfrm>
            <a:off x="520700" y="4191000"/>
            <a:ext cx="11150600" cy="19685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3" name="T503"/>
          <p:cNvSpPr txBox="1"/>
          <p:nvPr/>
        </p:nvSpPr>
        <p:spPr>
          <a:xfrm>
            <a:off x="698500" y="4318000"/>
            <a:ext cx="10795000" cy="17128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Total investment need of [X] billion to [target year]; current spending covers about [Y]%.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Split between capital works and ongoing operating subsidy.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Where the financing gap is most binding, and who could close it.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Assumptions the estimate is most sensitive to.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</p:spTree>
    <p:extLst>
      <p:ext uri="{BB962C8B-B14F-4D97-AF65-F5344CB8AC3E}">
        <p14:creationId xmlns:p14="http://schemas.microsoft.com/office/powerpoint/2010/main" val="1091749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Interventions: national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801" name="Fan chart"/>
          <p:cNvGraphicFramePr/>
          <p:nvPr>
            <p:extLst>
              <p:ext uri="{D42A27DB-BD31-4B8C-83A1-F6EECF244321}">
                <p14:modId xmlns:p14="http://schemas.microsoft.com/office/powerpoint/2010/main" val="1950381355"/>
              </p:ext>
            </p:extLst>
          </p:nvPr>
        </p:nvGraphicFramePr>
        <p:xfrm>
          <a:off x="520700" y="1524000"/>
          <a:ext cx="7366000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01" name="Table 5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045465"/>
              </p:ext>
            </p:extLst>
          </p:nvPr>
        </p:nvGraphicFramePr>
        <p:xfrm>
          <a:off x="8089900" y="1524000"/>
          <a:ext cx="3581400" cy="2861868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Intervention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Resources generated ([cur]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Added HHs ('000)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NRW reduction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339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Increased collection efficiency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192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Capex efficiency (unit cost)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91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Tariff reform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7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61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47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683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2" name="C502"/>
          <p:cNvSpPr/>
          <p:nvPr/>
        </p:nvSpPr>
        <p:spPr>
          <a:xfrm>
            <a:off x="8089900" y="4445000"/>
            <a:ext cx="3581400" cy="18034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00"/>
          </a:p>
        </p:txBody>
      </p:sp>
      <p:sp>
        <p:nvSpPr>
          <p:cNvPr id="503" name="T503"/>
          <p:cNvSpPr txBox="1"/>
          <p:nvPr/>
        </p:nvSpPr>
        <p:spPr>
          <a:xfrm>
            <a:off x="8255000" y="4521200"/>
            <a:ext cx="3251200" cy="1648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Which reforms are sequenced first, and why.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Institutional prerequisites for each.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Resources each reform unlocks.</a:t>
            </a:r>
          </a:p>
          <a:p>
            <a:pPr marL="0" indent="0"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12446000" y="1397000"/>
            <a:ext cx="3810000" cy="889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Prompt: chart values are illustrative placeholders populated by the tool.</a:t>
            </a:r>
          </a:p>
        </p:txBody>
      </p:sp>
    </p:spTree>
    <p:extLst>
      <p:ext uri="{BB962C8B-B14F-4D97-AF65-F5344CB8AC3E}">
        <p14:creationId xmlns:p14="http://schemas.microsoft.com/office/powerpoint/2010/main" val="4820695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[intervention name]: national water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C501"/>
          <p:cNvSpPr/>
          <p:nvPr/>
        </p:nvSpPr>
        <p:spPr>
          <a:xfrm>
            <a:off x="5207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2" name="T502"/>
          <p:cNvSpPr txBox="1"/>
          <p:nvPr/>
        </p:nvSpPr>
        <p:spPr>
          <a:xfrm>
            <a:off x="698500" y="1701800"/>
            <a:ext cx="3276600" cy="23673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Design and delivery</a:t>
            </a:r>
          </a:p>
          <a:p>
            <a:pPr marL="0" indent="0" algn="l">
              <a:lnSpc>
                <a:spcPct val="105000"/>
              </a:lnSpc>
              <a:spcAft>
                <a:spcPts val="22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[User input: describe the programme design — scope, phasing, geography, and the institutions responsible.]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Areas to be targeted</a:t>
            </a:r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[List the service areas, districts, or utility zones covered]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Implementing agencies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[Utility, regulator, line ministry, local government]</a:t>
            </a:r>
          </a:p>
        </p:txBody>
      </p:sp>
      <p:sp>
        <p:nvSpPr>
          <p:cNvPr id="503" name="C503"/>
          <p:cNvSpPr/>
          <p:nvPr/>
        </p:nvSpPr>
        <p:spPr>
          <a:xfrm>
            <a:off x="42799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4" name="T504"/>
          <p:cNvSpPr txBox="1"/>
          <p:nvPr/>
        </p:nvSpPr>
        <p:spPr>
          <a:xfrm>
            <a:off x="4457700" y="1701800"/>
            <a:ext cx="3276600" cy="2819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Costs and targets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Resources generated: [X] billion over [start year]–[end year]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Additional HHs served: [Y] thousand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Programme cost: [Z] billion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Baseline performance: [current value]</a:t>
            </a:r>
          </a:p>
          <a:p>
            <a:pPr marL="165000" indent="-165000" algn="l">
              <a:lnSpc>
                <a:spcPct val="105000"/>
              </a:lnSpc>
              <a:spcAft>
                <a:spcPts val="22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Target performance: [target value] by [year]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[User input: milestones and the action plan to secure approval — e.g. regulator sign-off for a tariff increase]</a:t>
            </a:r>
          </a:p>
        </p:txBody>
      </p:sp>
      <p:sp>
        <p:nvSpPr>
          <p:cNvPr id="505" name="C505"/>
          <p:cNvSpPr/>
          <p:nvPr/>
        </p:nvSpPr>
        <p:spPr>
          <a:xfrm>
            <a:off x="80391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6" name="T506"/>
          <p:cNvSpPr txBox="1"/>
          <p:nvPr/>
        </p:nvSpPr>
        <p:spPr>
          <a:xfrm>
            <a:off x="8216900" y="1701800"/>
            <a:ext cx="3276600" cy="32722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Evidence and benchmarks</a:t>
            </a:r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[User input: cite comparator utilities or countries that have achieved this level of performance, and the arrangements that made it possible — performance-based contracts, MDB support, corporatisation, concessions.]</a:t>
            </a:r>
          </a:p>
          <a:p>
            <a:pPr marL="165000" indent="-165000" algn="l">
              <a:lnSpc>
                <a:spcPct val="105000"/>
              </a:lnSpc>
              <a:spcAft>
                <a:spcPts val="120"/>
              </a:spcAft>
              <a:buFont typeface="Arial"/>
              <a:buChar char="•"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Benchmark 1: [utility, country] — [result, year]</a:t>
            </a:r>
          </a:p>
          <a:p>
            <a:pPr marL="165000" indent="-165000" algn="l">
              <a:lnSpc>
                <a:spcPct val="105000"/>
              </a:lnSpc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Benchmark 2: [utility, country] — [result, year]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Risks and mitigation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[Key delivery risks and how they will be managed]</a:t>
            </a:r>
          </a:p>
        </p:txBody>
      </p:sp>
      <p:sp>
        <p:nvSpPr>
          <p:cNvPr id="507" name="C507"/>
          <p:cNvSpPr/>
          <p:nvPr/>
        </p:nvSpPr>
        <p:spPr>
          <a:xfrm>
            <a:off x="12446000" y="1270000"/>
            <a:ext cx="3810000" cy="121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09CA7"/>
            </a:solidFill>
            <a:prstDash val="dash"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8" name="T508"/>
          <p:cNvSpPr txBox="1"/>
          <p:nvPr/>
        </p:nvSpPr>
        <p:spPr>
          <a:xfrm>
            <a:off x="12573000" y="1397000"/>
            <a:ext cx="3556000" cy="6684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Prompt: duplicate this slide for each intervention switched on in the tool, using the intervention names listed on slide 5.</a:t>
            </a:r>
          </a:p>
        </p:txBody>
      </p:sp>
    </p:spTree>
    <p:extLst>
      <p:ext uri="{BB962C8B-B14F-4D97-AF65-F5344CB8AC3E}">
        <p14:creationId xmlns:p14="http://schemas.microsoft.com/office/powerpoint/2010/main" val="41945149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National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C501"/>
          <p:cNvSpPr/>
          <p:nvPr/>
        </p:nvSpPr>
        <p:spPr>
          <a:xfrm>
            <a:off x="520700" y="1524000"/>
            <a:ext cx="11150600" cy="3810000"/>
          </a:xfrm>
          <a:prstGeom prst="roundRect">
            <a:avLst>
              <a:gd name="adj" fmla="val 3000"/>
            </a:avLst>
          </a:prstGeom>
          <a:solidFill>
            <a:srgbClr val="195B8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502" name="T502"/>
          <p:cNvSpPr txBox="1"/>
          <p:nvPr/>
        </p:nvSpPr>
        <p:spPr>
          <a:xfrm>
            <a:off x="889000" y="1905000"/>
            <a:ext cx="254000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9000" b="1">
                <a:solidFill>
                  <a:srgbClr val="4CBAC1"/>
                </a:solidFill>
                <a:latin typeface="Open Sans"/>
                <a:ea typeface="Open Sans"/>
                <a:cs typeface="Open Sans"/>
              </a:rPr>
              <a:t>07</a:t>
            </a:r>
            <a:endParaRPr lang="en-US" sz="9000" b="1" dirty="0">
              <a:solidFill>
                <a:srgbClr val="4CBAC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03" name="T503"/>
          <p:cNvSpPr txBox="1"/>
          <p:nvPr/>
        </p:nvSpPr>
        <p:spPr>
          <a:xfrm>
            <a:off x="3810000" y="1905000"/>
            <a:ext cx="7366000" cy="965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Open Sans"/>
                <a:cs typeface="Open Sans"/>
              </a:rPr>
              <a:t>National sanitation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3810000" y="2971800"/>
            <a:ext cx="7366000" cy="218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b="1" dirty="0">
                <a:solidFill>
                  <a:srgbClr val="B2E1E3"/>
                </a:solidFill>
                <a:latin typeface="Open Sans"/>
                <a:cs typeface="Open Sans"/>
              </a:rPr>
              <a:t>Section contents: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Coverage and targets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Service gap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Investment gap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Interventions</a:t>
            </a:r>
          </a:p>
          <a:p>
            <a:pPr marL="165000" indent="-165000" algn="l">
              <a:lnSpc>
                <a:spcPct val="105000"/>
              </a:lnSpc>
              <a:spcAft>
                <a:spcPts val="160"/>
              </a:spcAft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Open Sans"/>
                <a:cs typeface="Open Sans"/>
              </a:rPr>
              <a:t>Intervention details</a:t>
            </a:r>
          </a:p>
        </p:txBody>
      </p:sp>
    </p:spTree>
    <p:extLst>
      <p:ext uri="{BB962C8B-B14F-4D97-AF65-F5344CB8AC3E}">
        <p14:creationId xmlns:p14="http://schemas.microsoft.com/office/powerpoint/2010/main" val="34640062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Coverage and targets: national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T501"/>
          <p:cNvSpPr txBox="1"/>
          <p:nvPr/>
        </p:nvSpPr>
        <p:spPr>
          <a:xfrm>
            <a:off x="520700" y="1524000"/>
            <a:ext cx="7467600" cy="20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National sanitation service coverage, share of households</a:t>
            </a:r>
          </a:p>
        </p:txBody>
      </p:sp>
      <p:graphicFrame>
        <p:nvGraphicFramePr>
          <p:cNvPr id="502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579195"/>
              </p:ext>
            </p:extLst>
          </p:nvPr>
        </p:nvGraphicFramePr>
        <p:xfrm>
          <a:off x="520700" y="1854200"/>
          <a:ext cx="7467600" cy="3895276"/>
        </p:xfrm>
        <a:graphic>
          <a:graphicData uri="http://schemas.openxmlformats.org/drawingml/2006/table">
            <a:tbl>
              <a:tblPr firstRow="1"/>
              <a:tblGrid>
                <a:gridCol w="23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Service level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Actual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[first data year]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Actual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[baseline year]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Target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[first target year]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Target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[last target year]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Safely managed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30%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51%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75%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D9ED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100%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D9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At least basic, excluding safely managed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45%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38%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20%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0%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Less than basic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25%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11%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5%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0%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 households ('000)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620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940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1,120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1,483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3" name="C503"/>
          <p:cNvSpPr/>
          <p:nvPr/>
        </p:nvSpPr>
        <p:spPr>
          <a:xfrm>
            <a:off x="8242300" y="1524000"/>
            <a:ext cx="3429000" cy="41148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4" name="T504"/>
          <p:cNvSpPr txBox="1"/>
          <p:nvPr/>
        </p:nvSpPr>
        <p:spPr>
          <a:xfrm>
            <a:off x="8420100" y="1676400"/>
            <a:ext cx="3073400" cy="3121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Coverage moved [X] households, [first year]–[baseline year].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Target implies [Y] a year, against [Z] achieved.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Who serves the unserved today, and on what terms.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Reforms, programmes, or shocks behind the trend.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Basis for the target.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8" name="T508"/>
          <p:cNvSpPr txBox="1"/>
          <p:nvPr/>
        </p:nvSpPr>
        <p:spPr>
          <a:xfrm>
            <a:off x="520700" y="5969000"/>
            <a:ext cx="111506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7A7A7A"/>
                </a:solidFill>
                <a:latin typeface="Open Sans"/>
                <a:cs typeface="Open Sans"/>
              </a:rPr>
              <a:t>National figures are the household-weighted aggregate of the urban and rural results. Service levels follow the JMP service ladder (see Definitions). Targets are drawn from [source of target].</a:t>
            </a:r>
          </a:p>
        </p:txBody>
      </p:sp>
    </p:spTree>
    <p:extLst>
      <p:ext uri="{BB962C8B-B14F-4D97-AF65-F5344CB8AC3E}">
        <p14:creationId xmlns:p14="http://schemas.microsoft.com/office/powerpoint/2010/main" val="5389550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Service gap: national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801" name="Service gap chart"/>
          <p:cNvGraphicFramePr/>
          <p:nvPr>
            <p:extLst>
              <p:ext uri="{D42A27DB-BD31-4B8C-83A1-F6EECF244321}">
                <p14:modId xmlns:p14="http://schemas.microsoft.com/office/powerpoint/2010/main" val="380708081"/>
              </p:ext>
            </p:extLst>
          </p:nvPr>
        </p:nvGraphicFramePr>
        <p:xfrm>
          <a:off x="520700" y="1524000"/>
          <a:ext cx="73152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1" name="C501"/>
          <p:cNvSpPr/>
          <p:nvPr/>
        </p:nvSpPr>
        <p:spPr>
          <a:xfrm>
            <a:off x="8039100" y="1524000"/>
            <a:ext cx="3632200" cy="4191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2" name="T502"/>
          <p:cNvSpPr txBox="1"/>
          <p:nvPr/>
        </p:nvSpPr>
        <p:spPr>
          <a:xfrm>
            <a:off x="8216900" y="1701800"/>
            <a:ext cx="3276600" cy="3121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[X] households remain unserved at [baseline year].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On current trends the [target year] gap is [Y] households.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Which service levels drive most of the gap.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Population growth versus new connections.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Where the gap is concentrated geographically.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5" name="T505"/>
          <p:cNvSpPr txBox="1"/>
          <p:nvPr/>
        </p:nvSpPr>
        <p:spPr>
          <a:xfrm>
            <a:off x="520700" y="5969000"/>
            <a:ext cx="11150600" cy="254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7A7A7A"/>
                </a:solidFill>
                <a:latin typeface="Open Sans"/>
                <a:cs typeface="Open Sans"/>
              </a:rPr>
              <a:t>Note: the service gap is the difference between the households required to meet the target and those forecast to be covered under BAU. Figures are placeholders populated by the tool.</a:t>
            </a:r>
          </a:p>
        </p:txBody>
      </p:sp>
    </p:spTree>
    <p:extLst>
      <p:ext uri="{BB962C8B-B14F-4D97-AF65-F5344CB8AC3E}">
        <p14:creationId xmlns:p14="http://schemas.microsoft.com/office/powerpoint/2010/main" val="37512914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Investment gap: national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501" name="Table 5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849666"/>
              </p:ext>
            </p:extLst>
          </p:nvPr>
        </p:nvGraphicFramePr>
        <p:xfrm>
          <a:off x="520700" y="1524000"/>
          <a:ext cx="11150600" cy="2844800"/>
        </p:xfrm>
        <a:graphic>
          <a:graphicData uri="http://schemas.openxmlformats.org/drawingml/2006/table">
            <a:tbl>
              <a:tblPr firstRow="1"/>
              <a:tblGrid>
                <a:gridCol w="302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National sanitation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1]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1]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2]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[Period 2]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([cur]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(US$ m)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Investment needed for new HHs (A)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180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1,350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420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3,150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4,500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Replacement capex needed (B)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120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1,200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Investment needed (C = A +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220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1,650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540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4,050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760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5,700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BAU investment (D)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450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130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975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190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1,425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Investment gap (C − D)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160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1,200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410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3,075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570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4,275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2" name="C502"/>
          <p:cNvSpPr/>
          <p:nvPr/>
        </p:nvSpPr>
        <p:spPr>
          <a:xfrm>
            <a:off x="520700" y="4406900"/>
            <a:ext cx="11150600" cy="18669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3" name="T503"/>
          <p:cNvSpPr txBox="1"/>
          <p:nvPr/>
        </p:nvSpPr>
        <p:spPr>
          <a:xfrm>
            <a:off x="698500" y="4483100"/>
            <a:ext cx="10795000" cy="17128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Total investment need of [X] billion to [target year]; current spending covers about [Y]%.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Split between capital works and ongoing operating subsidy.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Where the financing gap is most binding, and who could close it.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Assumptions the estimate is most sensitive to.</a:t>
            </a:r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</p:spTree>
    <p:extLst>
      <p:ext uri="{BB962C8B-B14F-4D97-AF65-F5344CB8AC3E}">
        <p14:creationId xmlns:p14="http://schemas.microsoft.com/office/powerpoint/2010/main" val="7716989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Interventions: national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graphicFrame>
        <p:nvGraphicFramePr>
          <p:cNvPr id="801" name="Fan chart"/>
          <p:cNvGraphicFramePr/>
          <p:nvPr>
            <p:extLst>
              <p:ext uri="{D42A27DB-BD31-4B8C-83A1-F6EECF244321}">
                <p14:modId xmlns:p14="http://schemas.microsoft.com/office/powerpoint/2010/main" val="2289883185"/>
              </p:ext>
            </p:extLst>
          </p:nvPr>
        </p:nvGraphicFramePr>
        <p:xfrm>
          <a:off x="520700" y="1524000"/>
          <a:ext cx="7366000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01" name="Table 5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600317"/>
              </p:ext>
            </p:extLst>
          </p:nvPr>
        </p:nvGraphicFramePr>
        <p:xfrm>
          <a:off x="8089900" y="1524000"/>
          <a:ext cx="3581400" cy="2861868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Intervention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Resources generated ([cur] b)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Added HHs ('000)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>
                      <a:solidFill>
                        <a:srgbClr val="009CA7"/>
                      </a:solidFill>
                      <a:prstDash val="soli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009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Increased collection efficiency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339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Budget execution improvement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16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192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Tariff reform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91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Microfinance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7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Open Sans"/>
                          <a:cs typeface="Open Sans"/>
                        </a:rPr>
                        <a:t>61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Total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47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/>
                          <a:cs typeface="Open Sans"/>
                        </a:rPr>
                        <a:t>683</a:t>
                      </a:r>
                    </a:p>
                  </a:txBody>
                  <a:tcPr marL="45720" marR="45720" marT="18000" marB="18000" anchor="ctr">
                    <a:lnL w="12700">
                      <a:solidFill>
                        <a:srgbClr val="009CA7"/>
                      </a:solidFill>
                      <a:prstDash val="solid"/>
                    </a:lnL>
                    <a:lnR w="12700">
                      <a:solidFill>
                        <a:srgbClr val="009CA7"/>
                      </a:solidFill>
                      <a:prstDash val="solid"/>
                    </a:lnR>
                    <a:lnT w="12700" cap="flat" cmpd="sng" algn="ctr">
                      <a:solidFill>
                        <a:srgbClr val="00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9CA7"/>
                      </a:solidFill>
                      <a:prstDash val="solid"/>
                    </a:lnB>
                    <a:solidFill>
                      <a:srgbClr val="4CB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2" name="C502"/>
          <p:cNvSpPr/>
          <p:nvPr/>
        </p:nvSpPr>
        <p:spPr>
          <a:xfrm>
            <a:off x="8089900" y="4445000"/>
            <a:ext cx="3581400" cy="18034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00"/>
          </a:p>
        </p:txBody>
      </p:sp>
      <p:sp>
        <p:nvSpPr>
          <p:cNvPr id="503" name="T503"/>
          <p:cNvSpPr txBox="1"/>
          <p:nvPr/>
        </p:nvSpPr>
        <p:spPr>
          <a:xfrm>
            <a:off x="8255000" y="4521200"/>
            <a:ext cx="3251200" cy="1648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9CA7"/>
                </a:solidFill>
                <a:latin typeface="Open Sans"/>
                <a:cs typeface="Open Sans"/>
              </a:rPr>
              <a:t>[Talking points]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Which reforms are sequenced first, and why.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Institutional prerequisites for each.</a:t>
            </a:r>
          </a:p>
          <a:p>
            <a:pPr marL="180000" indent="-18000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Resources each reform unlocks.</a:t>
            </a:r>
          </a:p>
          <a:p>
            <a:pPr marL="0" indent="0"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Suggestive only — you can modify these.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12446000" y="1397000"/>
            <a:ext cx="3810000" cy="889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Prompt: chart values are illustrative placeholders populated by the tool.</a:t>
            </a:r>
          </a:p>
        </p:txBody>
      </p:sp>
    </p:spTree>
    <p:extLst>
      <p:ext uri="{BB962C8B-B14F-4D97-AF65-F5344CB8AC3E}">
        <p14:creationId xmlns:p14="http://schemas.microsoft.com/office/powerpoint/2010/main" val="38410677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[intervention name]: national sanitation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C501"/>
          <p:cNvSpPr/>
          <p:nvPr/>
        </p:nvSpPr>
        <p:spPr>
          <a:xfrm>
            <a:off x="5207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2" name="T502"/>
          <p:cNvSpPr txBox="1"/>
          <p:nvPr/>
        </p:nvSpPr>
        <p:spPr>
          <a:xfrm>
            <a:off x="698500" y="1701800"/>
            <a:ext cx="3276600" cy="23673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Design and delivery</a:t>
            </a:r>
          </a:p>
          <a:p>
            <a:pPr marL="0" indent="0" algn="l">
              <a:lnSpc>
                <a:spcPct val="105000"/>
              </a:lnSpc>
              <a:spcAft>
                <a:spcPts val="22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[User input: describe the programme design — scope, phasing, geography, and the institutions responsible.]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Areas to be targeted</a:t>
            </a:r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[List the service areas, districts, or utility zones covered]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Implementing agencies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[Utility, regulator, line ministry, local government]</a:t>
            </a:r>
          </a:p>
        </p:txBody>
      </p:sp>
      <p:sp>
        <p:nvSpPr>
          <p:cNvPr id="503" name="C503"/>
          <p:cNvSpPr/>
          <p:nvPr/>
        </p:nvSpPr>
        <p:spPr>
          <a:xfrm>
            <a:off x="42799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4" name="T504"/>
          <p:cNvSpPr txBox="1"/>
          <p:nvPr/>
        </p:nvSpPr>
        <p:spPr>
          <a:xfrm>
            <a:off x="4457700" y="1701800"/>
            <a:ext cx="3276600" cy="2819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Costs and targets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Resources generated: [X] billion over [start year]–[end year]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Additional HHs served: [Y] thousand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Programme cost: [Z] billion</a:t>
            </a:r>
          </a:p>
          <a:p>
            <a:pPr marL="165000" indent="-165000" algn="l">
              <a:lnSpc>
                <a:spcPct val="105000"/>
              </a:lnSpc>
              <a:spcAft>
                <a:spcPts val="14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Baseline performance: [current value]</a:t>
            </a:r>
          </a:p>
          <a:p>
            <a:pPr marL="165000" indent="-165000" algn="l">
              <a:lnSpc>
                <a:spcPct val="105000"/>
              </a:lnSpc>
              <a:spcAft>
                <a:spcPts val="22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Target performance: [target value] by [year]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[User input: milestones and the action plan to secure approval — e.g. regulator sign-off for a tariff increase]</a:t>
            </a:r>
          </a:p>
        </p:txBody>
      </p:sp>
      <p:sp>
        <p:nvSpPr>
          <p:cNvPr id="505" name="C505"/>
          <p:cNvSpPr/>
          <p:nvPr/>
        </p:nvSpPr>
        <p:spPr>
          <a:xfrm>
            <a:off x="80391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6" name="T506"/>
          <p:cNvSpPr txBox="1"/>
          <p:nvPr/>
        </p:nvSpPr>
        <p:spPr>
          <a:xfrm>
            <a:off x="8216900" y="1701800"/>
            <a:ext cx="3276600" cy="32722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8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Evidence and benchmarks</a:t>
            </a:r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[User input: cite comparator utilities or countries that have achieved this level of performance, and the arrangements that made it possible — performance-based contracts, MDB support, corporatisation, concessions.]</a:t>
            </a:r>
          </a:p>
          <a:p>
            <a:pPr marL="165000" indent="-165000" algn="l">
              <a:lnSpc>
                <a:spcPct val="105000"/>
              </a:lnSpc>
              <a:spcAft>
                <a:spcPts val="120"/>
              </a:spcAft>
              <a:buFont typeface="Arial"/>
              <a:buChar char="•"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Benchmark 1: [utility, country] — [result, year]</a:t>
            </a:r>
          </a:p>
          <a:p>
            <a:pPr marL="165000" indent="-165000" algn="l">
              <a:lnSpc>
                <a:spcPct val="105000"/>
              </a:lnSpc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Benchmark 2: [utility, country] — [result, year]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Risks and mitigation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[Key delivery risks and how they will be managed]</a:t>
            </a:r>
          </a:p>
        </p:txBody>
      </p:sp>
      <p:sp>
        <p:nvSpPr>
          <p:cNvPr id="507" name="C507"/>
          <p:cNvSpPr/>
          <p:nvPr/>
        </p:nvSpPr>
        <p:spPr>
          <a:xfrm>
            <a:off x="12446000" y="1270000"/>
            <a:ext cx="3810000" cy="121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09CA7"/>
            </a:solidFill>
            <a:prstDash val="dash"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8" name="T508"/>
          <p:cNvSpPr txBox="1"/>
          <p:nvPr/>
        </p:nvSpPr>
        <p:spPr>
          <a:xfrm>
            <a:off x="12573000" y="1397000"/>
            <a:ext cx="3556000" cy="6684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Prompt: duplicate this slide for each intervention switched on in the tool, using the intervention names listed on slide 5.</a:t>
            </a:r>
          </a:p>
        </p:txBody>
      </p:sp>
    </p:spTree>
    <p:extLst>
      <p:ext uri="{BB962C8B-B14F-4D97-AF65-F5344CB8AC3E}">
        <p14:creationId xmlns:p14="http://schemas.microsoft.com/office/powerpoint/2010/main" val="30663556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Appendix A: Methodology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C501"/>
          <p:cNvSpPr/>
          <p:nvPr/>
        </p:nvSpPr>
        <p:spPr>
          <a:xfrm>
            <a:off x="520700" y="1524000"/>
            <a:ext cx="3632200" cy="3683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2" name="T502"/>
          <p:cNvSpPr txBox="1"/>
          <p:nvPr/>
        </p:nvSpPr>
        <p:spPr>
          <a:xfrm>
            <a:off x="698500" y="1701800"/>
            <a:ext cx="3276600" cy="30588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1. Service coverage forecast</a:t>
            </a:r>
          </a:p>
          <a:p>
            <a:pPr marL="0" indent="0" algn="l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Examines past and current WSS coverage for urban and rural areas, then forecasts household growth and coverage under business-as-usual by extrapolating the historical CAGR.</a:t>
            </a:r>
          </a:p>
          <a:p>
            <a:pPr marL="0" indent="0" algn="l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The service gap is the difference between households needed to meet the [target year] target and those covered under BAU.</a:t>
            </a:r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Data sources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[Census rounds, JMP estimates, household surveys, utility reports.]</a:t>
            </a:r>
          </a:p>
        </p:txBody>
      </p:sp>
      <p:sp>
        <p:nvSpPr>
          <p:cNvPr id="503" name="C503"/>
          <p:cNvSpPr/>
          <p:nvPr/>
        </p:nvSpPr>
        <p:spPr>
          <a:xfrm>
            <a:off x="4279900" y="1524000"/>
            <a:ext cx="3632200" cy="3810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4" name="T504"/>
          <p:cNvSpPr txBox="1"/>
          <p:nvPr/>
        </p:nvSpPr>
        <p:spPr>
          <a:xfrm>
            <a:off x="4457700" y="1701800"/>
            <a:ext cx="3276600" cy="3524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2. Cost assumptions</a:t>
            </a:r>
          </a:p>
          <a:p>
            <a:pPr marL="0" indent="0" algn="l">
              <a:lnSpc>
                <a:spcPct val="105000"/>
              </a:lnSpc>
              <a:spcAft>
                <a:spcPts val="15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Estimates the capex needed to meet service targets, covering:</a:t>
            </a:r>
          </a:p>
          <a:p>
            <a:pPr marL="165000" indent="-165000" algn="l">
              <a:lnSpc>
                <a:spcPct val="105000"/>
              </a:lnSpc>
              <a:spcAft>
                <a:spcPts val="1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Bulk supply capacity augmentation</a:t>
            </a:r>
          </a:p>
          <a:p>
            <a:pPr marL="165000" indent="-165000" algn="l">
              <a:lnSpc>
                <a:spcPct val="105000"/>
              </a:lnSpc>
              <a:spcAft>
                <a:spcPts val="1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Distribution and sewer network extension</a:t>
            </a:r>
          </a:p>
          <a:p>
            <a:pPr marL="165000" indent="-165000" algn="l">
              <a:lnSpc>
                <a:spcPct val="105000"/>
              </a:lnSpc>
              <a:spcAft>
                <a:spcPts val="1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Wastewater and faecal sludge treatment</a:t>
            </a:r>
          </a:p>
          <a:p>
            <a:pPr marL="165000" indent="-165000" algn="l">
              <a:lnSpc>
                <a:spcPct val="105000"/>
              </a:lnSpc>
              <a:spcAft>
                <a:spcPts val="1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On-site facilities and household connections</a:t>
            </a:r>
          </a:p>
          <a:p>
            <a:pPr marL="165000" indent="-165000" algn="l">
              <a:lnSpc>
                <a:spcPct val="105000"/>
              </a:lnSpc>
              <a:spcAft>
                <a:spcPts val="15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Replacement capex over an assumed [x]-year asset life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Unit capex per household is weighted by the projected mix of service modalities.</a:t>
            </a:r>
          </a:p>
        </p:txBody>
      </p:sp>
      <p:sp>
        <p:nvSpPr>
          <p:cNvPr id="505" name="C505"/>
          <p:cNvSpPr/>
          <p:nvPr/>
        </p:nvSpPr>
        <p:spPr>
          <a:xfrm>
            <a:off x="8039100" y="1524000"/>
            <a:ext cx="3632200" cy="3683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6" name="T506"/>
          <p:cNvSpPr txBox="1"/>
          <p:nvPr/>
        </p:nvSpPr>
        <p:spPr>
          <a:xfrm>
            <a:off x="8216900" y="1701800"/>
            <a:ext cx="3276600" cy="30588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25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3. Financing scenarios</a:t>
            </a:r>
          </a:p>
          <a:p>
            <a:pPr marL="0" indent="0" algn="l">
              <a:lnSpc>
                <a:spcPct val="105000"/>
              </a:lnSpc>
              <a:spcAft>
                <a:spcPts val="15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Estimates the cash flow each intervention could generate, benchmarked against real-world evidence, and how many additional households could be served. Interventions considered:</a:t>
            </a:r>
          </a:p>
          <a:p>
            <a:pPr marL="165000" indent="-165000" algn="l">
              <a:lnSpc>
                <a:spcPct val="105000"/>
              </a:lnSpc>
              <a:spcAft>
                <a:spcPts val="1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Collection efficiency</a:t>
            </a:r>
          </a:p>
          <a:p>
            <a:pPr marL="165000" indent="-165000" algn="l">
              <a:lnSpc>
                <a:spcPct val="105000"/>
              </a:lnSpc>
              <a:spcAft>
                <a:spcPts val="1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NRW reduction</a:t>
            </a:r>
          </a:p>
          <a:p>
            <a:pPr marL="165000" indent="-165000" algn="l">
              <a:lnSpc>
                <a:spcPct val="105000"/>
              </a:lnSpc>
              <a:spcAft>
                <a:spcPts val="1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Budget execution</a:t>
            </a:r>
          </a:p>
          <a:p>
            <a:pPr marL="165000" indent="-165000" algn="l">
              <a:lnSpc>
                <a:spcPct val="105000"/>
              </a:lnSpc>
              <a:spcAft>
                <a:spcPts val="1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Capex efficiency (unit cost)</a:t>
            </a:r>
          </a:p>
          <a:p>
            <a:pPr marL="165000" indent="-165000" algn="l">
              <a:lnSpc>
                <a:spcPct val="105000"/>
              </a:lnSpc>
              <a:spcAft>
                <a:spcPts val="1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Technology selection</a:t>
            </a:r>
          </a:p>
          <a:p>
            <a:pPr marL="165000" indent="-165000" algn="l">
              <a:lnSpc>
                <a:spcPct val="105000"/>
              </a:lnSpc>
              <a:spcAft>
                <a:spcPts val="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Tariff reform and microfinance</a:t>
            </a:r>
          </a:p>
        </p:txBody>
      </p:sp>
      <p:sp>
        <p:nvSpPr>
          <p:cNvPr id="507" name="T507"/>
          <p:cNvSpPr txBox="1"/>
          <p:nvPr/>
        </p:nvSpPr>
        <p:spPr>
          <a:xfrm>
            <a:off x="12446000" y="1397000"/>
            <a:ext cx="3810000" cy="101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Prompt: Only the interventions switched on in the tool appear in the main body; this appendix lists the full set available.</a:t>
            </a:r>
          </a:p>
        </p:txBody>
      </p:sp>
    </p:spTree>
    <p:extLst>
      <p:ext uri="{BB962C8B-B14F-4D97-AF65-F5344CB8AC3E}">
        <p14:creationId xmlns:p14="http://schemas.microsoft.com/office/powerpoint/2010/main" val="21290301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35C80-C4AD-0A36-4514-C63498C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7A5E-A760-F5B0-8312-0EBDF00F649B}"/>
              </a:ext>
            </a:extLst>
          </p:cNvPr>
          <p:cNvSpPr/>
          <p:nvPr/>
        </p:nvSpPr>
        <p:spPr>
          <a:xfrm>
            <a:off x="519896" y="195453"/>
            <a:ext cx="11110831" cy="793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US" sz="3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Appendix B: [Title]</a:t>
            </a:r>
            <a:endParaRPr lang="en-US" sz="32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16D5952-A1B6-B15E-8CC0-BCBD83DB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96" y="6278843"/>
            <a:ext cx="1979994" cy="407007"/>
          </a:xfrm>
          <a:prstGeom prst="rect">
            <a:avLst/>
          </a:prstGeom>
        </p:spPr>
      </p:pic>
      <p:sp>
        <p:nvSpPr>
          <p:cNvPr id="501" name="C501"/>
          <p:cNvSpPr/>
          <p:nvPr/>
        </p:nvSpPr>
        <p:spPr>
          <a:xfrm>
            <a:off x="520700" y="1524000"/>
            <a:ext cx="11150600" cy="4445000"/>
          </a:xfrm>
          <a:prstGeom prst="roundRect">
            <a:avLst>
              <a:gd name="adj" fmla="val 3000"/>
            </a:avLst>
          </a:prstGeom>
          <a:solidFill>
            <a:srgbClr val="E8F4F5"/>
          </a:solidFill>
          <a:ln w="12700">
            <a:solidFill>
              <a:srgbClr val="009CA7"/>
            </a:solidFill>
            <a:prstDash val="dash"/>
          </a:ln>
        </p:spPr>
        <p:txBody>
          <a:bodyPr/>
          <a:lstStyle/>
          <a:p>
            <a:pPr>
              <a:buNone/>
            </a:pPr>
            <a:endParaRPr lang="en-US" sz="1400"/>
          </a:p>
        </p:txBody>
      </p:sp>
      <p:sp>
        <p:nvSpPr>
          <p:cNvPr id="502" name="T502"/>
          <p:cNvSpPr txBox="1"/>
          <p:nvPr/>
        </p:nvSpPr>
        <p:spPr>
          <a:xfrm>
            <a:off x="889000" y="1905000"/>
            <a:ext cx="10414000" cy="25340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9CA7"/>
                </a:solidFill>
                <a:latin typeface="Open Sans"/>
                <a:cs typeface="Open Sans"/>
              </a:rPr>
              <a:t>[Placeholder for users to add more appendices as needed]</a:t>
            </a:r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95B80"/>
                </a:solidFill>
                <a:latin typeface="Open Sans"/>
                <a:cs typeface="Open Sans"/>
              </a:rPr>
              <a:t>Suggested content for additional appendices:</a:t>
            </a:r>
          </a:p>
          <a:p>
            <a:pPr marL="165000" indent="-165000" algn="l">
              <a:lnSpc>
                <a:spcPct val="105000"/>
              </a:lnSpc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Detailed definition of urban and rural areas used in the analysis, and the list of administrative units classified as urban</a:t>
            </a:r>
          </a:p>
          <a:p>
            <a:pPr marL="165000" indent="-165000" algn="l">
              <a:lnSpc>
                <a:spcPct val="105000"/>
              </a:lnSpc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Full data sources table — census rounds, JMP estimates, household surveys, utility annual reports, and sector financing factsheets</a:t>
            </a:r>
          </a:p>
          <a:p>
            <a:pPr marL="165000" indent="-165000" algn="l">
              <a:lnSpc>
                <a:spcPct val="105000"/>
              </a:lnSpc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Unit capex build-up by service modality and by value chain stage</a:t>
            </a:r>
          </a:p>
          <a:p>
            <a:pPr marL="165000" indent="-165000" algn="l">
              <a:lnSpc>
                <a:spcPct val="105000"/>
              </a:lnSpc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Tariff schedules, current and proposed</a:t>
            </a:r>
          </a:p>
          <a:p>
            <a:pPr marL="165000" indent="-165000" algn="l">
              <a:lnSpc>
                <a:spcPct val="105000"/>
              </a:lnSpc>
              <a:spcAft>
                <a:spcPts val="20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Sensitivity analysis on population growth, unit costs, and asset life assumptions</a:t>
            </a:r>
          </a:p>
          <a:p>
            <a:pPr marL="165000" indent="-165000" algn="l">
              <a:lnSpc>
                <a:spcPct val="105000"/>
              </a:lnSpc>
              <a:spcAft>
                <a:spcPts val="0"/>
              </a:spcAft>
              <a:buFont typeface="Arial"/>
              <a:buChar char="•"/>
            </a:pPr>
            <a:r>
              <a:rPr lang="en-US" sz="1400" dirty="0">
                <a:solidFill>
                  <a:srgbClr val="404040"/>
                </a:solidFill>
                <a:latin typeface="Open Sans"/>
                <a:cs typeface="Open Sans"/>
              </a:rPr>
              <a:t>Glossary and abbreviations</a:t>
            </a:r>
          </a:p>
          <a:p>
            <a:pPr marL="0" indent="0" algn="l">
              <a:lnSpc>
                <a:spcPct val="105000"/>
              </a:lnSpc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6592AB"/>
                </a:solidFill>
                <a:latin typeface="Open Sans"/>
                <a:cs typeface="Open Sans"/>
              </a:rPr>
              <a:t>Prompt: replace with the content for this appendix.</a:t>
            </a:r>
          </a:p>
        </p:txBody>
      </p:sp>
      <p:sp>
        <p:nvSpPr>
          <p:cNvPr id="503" name="T503"/>
          <p:cNvSpPr txBox="1"/>
          <p:nvPr/>
        </p:nvSpPr>
        <p:spPr>
          <a:xfrm>
            <a:off x="12446000" y="1905000"/>
            <a:ext cx="3810000" cy="965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7A7A7A"/>
                </a:solidFill>
                <a:latin typeface="Open Sans"/>
                <a:cs typeface="Open Sans"/>
              </a:rPr>
              <a:t>Prompt: Duplicate this slide for each additional appendix. Keep the appendix lettering sequential.</a:t>
            </a:r>
          </a:p>
        </p:txBody>
      </p:sp>
    </p:spTree>
    <p:extLst>
      <p:ext uri="{BB962C8B-B14F-4D97-AF65-F5344CB8AC3E}">
        <p14:creationId xmlns:p14="http://schemas.microsoft.com/office/powerpoint/2010/main" val="1487187301"/>
      </p:ext>
    </p:extLst>
  </p:cSld>
  <p:clrMapOvr>
    <a:masterClrMapping/>
  </p:clrMapOvr>
</p:sld>
</file>

<file path=ppt/theme/theme1.xml><?xml version="1.0" encoding="utf-8"?>
<a:theme xmlns:a="http://schemas.openxmlformats.org/drawingml/2006/main" name="Water Forward Template">
  <a:themeElements>
    <a:clrScheme name="Custom 7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9CA7"/>
      </a:accent1>
      <a:accent2>
        <a:srgbClr val="6592AB"/>
      </a:accent2>
      <a:accent3>
        <a:srgbClr val="195B80"/>
      </a:accent3>
      <a:accent4>
        <a:srgbClr val="4CBAC1"/>
      </a:accent4>
      <a:accent5>
        <a:srgbClr val="80A3B8"/>
      </a:accent5>
      <a:accent6>
        <a:srgbClr val="B2E1E3"/>
      </a:accent6>
      <a:hlink>
        <a:srgbClr val="3388BA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ater Forward Template" id="{A8774A6D-547A-9E40-8C48-1F07F444EDFB}" vid="{EC12EAD5-3BC4-9B48-8DD3-34515A90C9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CA849C-11F7-4EB8-A746-94C28BE3224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d7b11fd-8ed1-49f1-b251-59a517ca2bf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A3B705D77A8144B9A3384455A826F0" ma:contentTypeVersion="13" ma:contentTypeDescription="Create a new document." ma:contentTypeScope="" ma:versionID="023f904174a1e4f8630a7803bc2f1f24">
  <xsd:schema xmlns:xsd="http://www.w3.org/2001/XMLSchema" xmlns:xs="http://www.w3.org/2001/XMLSchema" xmlns:p="http://schemas.microsoft.com/office/2006/metadata/properties" xmlns:ns1="http://schemas.microsoft.com/sharepoint/v3" xmlns:ns2="38d4b49f-4a3b-4a71-8b4e-eb0c9423bd7a" xmlns:ns3="2a965387-0272-4dd9-b11f-423753277a10" xmlns:ns4="http://schemas.microsoft.com/sharepoint/v4" targetNamespace="http://schemas.microsoft.com/office/2006/metadata/properties" ma:root="true" ma:fieldsID="04e5a8782ff206b8f9584fdf9d3f585c" ns1:_="" ns2:_="" ns3:_="" ns4:_="">
    <xsd:import namespace="http://schemas.microsoft.com/sharepoint/v3"/>
    <xsd:import namespace="38d4b49f-4a3b-4a71-8b4e-eb0c9423bd7a"/>
    <xsd:import namespace="2a965387-0272-4dd9-b11f-423753277a10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4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4b49f-4a3b-4a71-8b4e-eb0c9423bd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7641109-3df3-4a27-9b17-b4617ef095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965387-0272-4dd9-b11f-423753277a1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0deebf0-b830-406e-ae19-daaec894be79}" ma:internalName="TaxCatchAll" ma:showField="CatchAllData" ma:web="2a965387-0272-4dd9-b11f-423753277a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0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a965387-0272-4dd9-b11f-423753277a10" xsi:nil="true"/>
    <lcf76f155ced4ddcb4097134ff3c332f xmlns="38d4b49f-4a3b-4a71-8b4e-eb0c9423bd7a">
      <Terms xmlns="http://schemas.microsoft.com/office/infopath/2007/PartnerControls"/>
    </lcf76f155ced4ddcb4097134ff3c332f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E89D39D3-CA6B-45EF-9131-0BD8906D22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BB8671-907A-4526-B12A-15CB71B9D3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8d4b49f-4a3b-4a71-8b4e-eb0c9423bd7a"/>
    <ds:schemaRef ds:uri="2a965387-0272-4dd9-b11f-423753277a10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174066-C645-481E-A7AE-D4118F6E6DDE}">
  <ds:schemaRefs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428cf505-f104-40c5-9e86-ab914f1c890c"/>
    <ds:schemaRef ds:uri="49805ee2-4dd2-488b-898f-13375dbe74a0"/>
    <ds:schemaRef ds:uri="http://schemas.microsoft.com/sharepoint/v3"/>
    <ds:schemaRef ds:uri="http://schemas.microsoft.com/office/2006/metadata/properties"/>
    <ds:schemaRef ds:uri="2a965387-0272-4dd9-b11f-423753277a10"/>
    <ds:schemaRef ds:uri="38d4b49f-4a3b-4a71-8b4e-eb0c9423bd7a"/>
    <ds:schemaRef ds:uri="http://schemas.microsoft.com/sharepoint/v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2166</TotalTime>
  <Words>6185</Words>
  <Application>Microsoft Office PowerPoint</Application>
  <PresentationFormat>Widescreen</PresentationFormat>
  <Paragraphs>1189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Andes Light</vt:lpstr>
      <vt:lpstr>Aptos</vt:lpstr>
      <vt:lpstr>Arial</vt:lpstr>
      <vt:lpstr>Open Sans</vt:lpstr>
      <vt:lpstr>Open Sans Light</vt:lpstr>
      <vt:lpstr>Water Forward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Delivering Water Security for All The World Bank's New Mission</dc:title>
  <dc:subject>Delivering Water Security for All The World Bank's New Mission</dc:subject>
  <dc:creator>Raphaëlle Vulliet</dc:creator>
  <cp:lastModifiedBy>Petray Wu</cp:lastModifiedBy>
  <cp:revision>6</cp:revision>
  <cp:lastPrinted>2026-02-03T17:45:04Z</cp:lastPrinted>
  <dcterms:created xsi:type="dcterms:W3CDTF">2026-01-14T15:37:33Z</dcterms:created>
  <dcterms:modified xsi:type="dcterms:W3CDTF">2026-07-30T21:07:54Z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2026-01-14T20:33:43Z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a192cb13-7674-4e80-9b48-af0c4d0035f3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Office Theme:3\1_Office Theme:3</vt:lpwstr>
  </property>
  <property fmtid="{D5CDD505-2E9C-101B-9397-08002B2CF9AE}" pid="11" name="ClassificationContentMarkingFooterText">
    <vt:lpwstr>Official Use Only</vt:lpwstr>
  </property>
  <property fmtid="{D5CDD505-2E9C-101B-9397-08002B2CF9AE}" pid="12" name="ContentTypeId">
    <vt:lpwstr>0x010100B9A3B705D77A8144B9A3384455A826F0</vt:lpwstr>
  </property>
  <property fmtid="{D5CDD505-2E9C-101B-9397-08002B2CF9AE}" pid="13" name="MediaServiceImageTags">
    <vt:lpwstr/>
  </property>
</Properties>
</file>